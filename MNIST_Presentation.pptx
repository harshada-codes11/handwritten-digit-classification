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0" d="100"/>
          <a:sy n="130" d="100"/>
        </p:scale>
        <p:origin x="82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46337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3200400"/>
            <a:ext cx="2743200" cy="2743200"/>
          </a:xfrm>
          <a:prstGeom prst="ellipse">
            <a:avLst/>
          </a:prstGeom>
          <a:solidFill>
            <a:srgbClr val="CADCFC">
              <a:alpha val="25000"/>
            </a:srgbClr>
          </a:solidFill>
          <a:ln w="12700">
            <a:solidFill>
              <a:srgbClr val="CADCFC">
                <a:alpha val="2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400" dirty="0">
                <a:solidFill>
                  <a:srgbClr val="CADCFC"/>
                </a:solidFill>
              </a:rPr>
              <a:t>AI / ML  PROJECT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6400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</a:rPr>
              <a:t>MNIST Handwritten Digit</a:t>
            </a:r>
            <a:endParaRPr lang="en-US" sz="3800" dirty="0"/>
          </a:p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</a:rPr>
              <a:t>Classification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CADCFC"/>
                </a:solidFill>
              </a:rPr>
              <a:t>Using Neural Networks (Deep Learning)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3840480"/>
            <a:ext cx="2743200" cy="36576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0" y="1828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1E2761"/>
                </a:solidFill>
              </a:rPr>
              <a:t>02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18288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761"/>
                </a:solidFill>
              </a:rPr>
              <a:t>Project Overview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8595360" cy="18288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</a:rPr>
              <a:t>What is MNIST?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74320" y="1463040"/>
            <a:ext cx="4114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The MNIST dataset is a benchmark collection of 70,000 handwritten digit images (0–9). It is the most widely used dataset in image classification research.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283464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</a:rPr>
              <a:t>Project Goal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74320" y="329184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Build and train a Neural Network that can automatically recognize any handwritten digit (0–9) from a 28×28 grayscale image.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914400"/>
            <a:ext cx="2011680" cy="1554480"/>
          </a:xfrm>
          <a:prstGeom prst="rect">
            <a:avLst/>
          </a:prstGeom>
          <a:solidFill>
            <a:srgbClr val="F0F4FF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09728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2761"/>
                </a:solidFill>
              </a:rPr>
              <a:t>70,000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663440" y="18288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Total Images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58000" y="914400"/>
            <a:ext cx="2011680" cy="1554480"/>
          </a:xfrm>
          <a:prstGeom prst="rect">
            <a:avLst/>
          </a:prstGeom>
          <a:solidFill>
            <a:srgbClr val="F0F4FF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0" y="109728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2761"/>
                </a:solidFill>
              </a:rPr>
              <a:t>28×28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858000" y="18288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Image Size (px)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2743200"/>
            <a:ext cx="2011680" cy="1554480"/>
          </a:xfrm>
          <a:prstGeom prst="rect">
            <a:avLst/>
          </a:prstGeom>
          <a:solidFill>
            <a:srgbClr val="F0F4FF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292608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2761"/>
                </a:solidFill>
              </a:rPr>
              <a:t>10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663440" y="36576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Output Classes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58000" y="2743200"/>
            <a:ext cx="2011680" cy="1554480"/>
          </a:xfrm>
          <a:prstGeom prst="rect">
            <a:avLst/>
          </a:prstGeom>
          <a:solidFill>
            <a:srgbClr val="F0F4FF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0" y="292608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2761"/>
                </a:solidFill>
              </a:rPr>
              <a:t>~97%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858000" y="36576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Test Accuracy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0" y="1828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1E2761"/>
                </a:solidFill>
              </a:rPr>
              <a:t>03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18288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761"/>
                </a:solidFill>
              </a:rPr>
              <a:t>Dataset Exploration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8595360" cy="18288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</a:rPr>
              <a:t>Dataset Split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74320" y="1463040"/>
            <a:ext cx="137160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4630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Split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645920" y="1463040"/>
            <a:ext cx="137160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45920" y="14630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Samples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017520" y="1463040"/>
            <a:ext cx="137160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17520" y="14630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Purpose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1965960"/>
            <a:ext cx="1371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19659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</a:rPr>
              <a:t>Training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645920" y="1965960"/>
            <a:ext cx="1371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45920" y="19659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</a:rPr>
              <a:t>60,000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017520" y="1965960"/>
            <a:ext cx="1371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17520" y="19659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</a:rPr>
              <a:t>Model learning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2468880"/>
            <a:ext cx="1371600" cy="457200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24688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</a:rPr>
              <a:t>Testing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645920" y="2468880"/>
            <a:ext cx="1371600" cy="457200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645920" y="24688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</a:rPr>
              <a:t>10,000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017520" y="2468880"/>
            <a:ext cx="1371600" cy="457200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17520" y="24688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</a:rPr>
              <a:t>Evaluation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74320" y="29260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</a:rPr>
              <a:t>Image Properties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274320" y="33832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</a:rPr>
              <a:t>•  </a:t>
            </a:r>
            <a:r>
              <a:rPr lang="en-US" sz="1300" dirty="0">
                <a:solidFill>
                  <a:srgbClr val="1E293B"/>
                </a:solidFill>
              </a:rPr>
              <a:t>Size: 28 × 28 pixels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74320" y="368503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</a:rPr>
              <a:t>•  </a:t>
            </a:r>
            <a:r>
              <a:rPr lang="en-US" sz="1300" dirty="0">
                <a:solidFill>
                  <a:srgbClr val="1E293B"/>
                </a:solidFill>
              </a:rPr>
              <a:t>Mode: Grayscale (1 channel)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74320" y="398678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</a:rPr>
              <a:t>•  </a:t>
            </a:r>
            <a:r>
              <a:rPr lang="en-US" sz="1300" dirty="0">
                <a:solidFill>
                  <a:srgbClr val="1E293B"/>
                </a:solidFill>
              </a:rPr>
              <a:t>Values: 0 (black) → 255 (white)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274320" y="4288536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</a:rPr>
              <a:t>•  </a:t>
            </a:r>
            <a:r>
              <a:rPr lang="en-US" sz="1300" dirty="0">
                <a:solidFill>
                  <a:srgbClr val="1E293B"/>
                </a:solidFill>
              </a:rPr>
              <a:t>Labels: Integer (0–9)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663440" y="10058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</a:rPr>
              <a:t>Sample Digits (0–9)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663440" y="1463040"/>
            <a:ext cx="731520" cy="7315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63440" y="14630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0</a:t>
            </a:r>
            <a:endParaRPr lang="en-US" sz="2400" dirty="0"/>
          </a:p>
        </p:txBody>
      </p:sp>
      <p:sp>
        <p:nvSpPr>
          <p:cNvPr id="33" name="Shape 31"/>
          <p:cNvSpPr/>
          <p:nvPr/>
        </p:nvSpPr>
        <p:spPr>
          <a:xfrm>
            <a:off x="5468112" y="1463040"/>
            <a:ext cx="731520" cy="7315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68112" y="14630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1</a:t>
            </a:r>
            <a:endParaRPr lang="en-US" sz="2400" dirty="0"/>
          </a:p>
        </p:txBody>
      </p:sp>
      <p:sp>
        <p:nvSpPr>
          <p:cNvPr id="35" name="Shape 33"/>
          <p:cNvSpPr/>
          <p:nvPr/>
        </p:nvSpPr>
        <p:spPr>
          <a:xfrm>
            <a:off x="6272784" y="1463040"/>
            <a:ext cx="731520" cy="7315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72784" y="14630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2</a:t>
            </a:r>
            <a:endParaRPr lang="en-US" sz="2400" dirty="0"/>
          </a:p>
        </p:txBody>
      </p:sp>
      <p:sp>
        <p:nvSpPr>
          <p:cNvPr id="37" name="Shape 35"/>
          <p:cNvSpPr/>
          <p:nvPr/>
        </p:nvSpPr>
        <p:spPr>
          <a:xfrm>
            <a:off x="7077456" y="1463040"/>
            <a:ext cx="731520" cy="7315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077456" y="14630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3</a:t>
            </a:r>
            <a:endParaRPr lang="en-US" sz="2400" dirty="0"/>
          </a:p>
        </p:txBody>
      </p:sp>
      <p:sp>
        <p:nvSpPr>
          <p:cNvPr id="39" name="Shape 37"/>
          <p:cNvSpPr/>
          <p:nvPr/>
        </p:nvSpPr>
        <p:spPr>
          <a:xfrm>
            <a:off x="7882128" y="1463040"/>
            <a:ext cx="731520" cy="7315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882128" y="14630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4</a:t>
            </a:r>
            <a:endParaRPr lang="en-US" sz="2400" dirty="0"/>
          </a:p>
        </p:txBody>
      </p:sp>
      <p:sp>
        <p:nvSpPr>
          <p:cNvPr id="41" name="Shape 39"/>
          <p:cNvSpPr/>
          <p:nvPr/>
        </p:nvSpPr>
        <p:spPr>
          <a:xfrm>
            <a:off x="4663440" y="2377440"/>
            <a:ext cx="731520" cy="7315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63440" y="23774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5</a:t>
            </a:r>
            <a:endParaRPr lang="en-US" sz="2400" dirty="0"/>
          </a:p>
        </p:txBody>
      </p:sp>
      <p:sp>
        <p:nvSpPr>
          <p:cNvPr id="43" name="Shape 41"/>
          <p:cNvSpPr/>
          <p:nvPr/>
        </p:nvSpPr>
        <p:spPr>
          <a:xfrm>
            <a:off x="5468112" y="2377440"/>
            <a:ext cx="731520" cy="7315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468112" y="23774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6</a:t>
            </a:r>
            <a:endParaRPr lang="en-US" sz="2400" dirty="0"/>
          </a:p>
        </p:txBody>
      </p:sp>
      <p:sp>
        <p:nvSpPr>
          <p:cNvPr id="45" name="Shape 43"/>
          <p:cNvSpPr/>
          <p:nvPr/>
        </p:nvSpPr>
        <p:spPr>
          <a:xfrm>
            <a:off x="6272784" y="2377440"/>
            <a:ext cx="731520" cy="7315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72784" y="23774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7</a:t>
            </a:r>
            <a:endParaRPr lang="en-US" sz="2400" dirty="0"/>
          </a:p>
        </p:txBody>
      </p:sp>
      <p:sp>
        <p:nvSpPr>
          <p:cNvPr id="47" name="Shape 45"/>
          <p:cNvSpPr/>
          <p:nvPr/>
        </p:nvSpPr>
        <p:spPr>
          <a:xfrm>
            <a:off x="7077456" y="2377440"/>
            <a:ext cx="731520" cy="7315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077456" y="23774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8</a:t>
            </a:r>
            <a:endParaRPr lang="en-US" sz="2400" dirty="0"/>
          </a:p>
        </p:txBody>
      </p:sp>
      <p:sp>
        <p:nvSpPr>
          <p:cNvPr id="49" name="Shape 47"/>
          <p:cNvSpPr/>
          <p:nvPr/>
        </p:nvSpPr>
        <p:spPr>
          <a:xfrm>
            <a:off x="7882128" y="2377440"/>
            <a:ext cx="731520" cy="7315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882128" y="23774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9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0" y="1828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1E2761"/>
                </a:solidFill>
              </a:rPr>
              <a:t>04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18288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761"/>
                </a:solidFill>
              </a:rPr>
              <a:t>Project Methodology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8595360" cy="18288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05840"/>
            <a:ext cx="2743200" cy="1737360"/>
          </a:xfrm>
          <a:prstGeom prst="rect">
            <a:avLst/>
          </a:prstGeom>
          <a:solidFill>
            <a:srgbClr val="F0F4FF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9728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97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11430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</a:rPr>
              <a:t>Load Data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65760" y="169164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Import MNIST via keras.datasets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017520" y="1828800"/>
            <a:ext cx="22860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005840"/>
            <a:ext cx="2743200" cy="1737360"/>
          </a:xfrm>
          <a:prstGeom prst="rect">
            <a:avLst/>
          </a:prstGeom>
          <a:solidFill>
            <a:srgbClr val="F0F4FF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37560" y="109728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1097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977640" y="11430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</a:rPr>
              <a:t>Preprocess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337560" y="169164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Normalize pixels [0→1]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989320" y="1828800"/>
            <a:ext cx="22860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1005840"/>
            <a:ext cx="2743200" cy="1737360"/>
          </a:xfrm>
          <a:prstGeom prst="rect">
            <a:avLst/>
          </a:prstGeom>
          <a:solidFill>
            <a:srgbClr val="F0F4FF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09360" y="109728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1097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949440" y="11430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</a:rPr>
              <a:t>Build Model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309360" y="169164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MLP: Flatten→Dense→Dense→Output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74320" y="2971800"/>
            <a:ext cx="2743200" cy="1737360"/>
          </a:xfrm>
          <a:prstGeom prst="rect">
            <a:avLst/>
          </a:prstGeom>
          <a:solidFill>
            <a:srgbClr val="F0F4FF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306324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063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05840" y="31089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</a:rPr>
              <a:t>Train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365760" y="365760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10 epochs, Adam optimizer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017520" y="3794760"/>
            <a:ext cx="22860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46120" y="2971800"/>
            <a:ext cx="2743200" cy="1737360"/>
          </a:xfrm>
          <a:prstGeom prst="rect">
            <a:avLst/>
          </a:prstGeom>
          <a:solidFill>
            <a:srgbClr val="F0F4FF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37560" y="306324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37560" y="3063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3977640" y="31089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</a:rPr>
              <a:t>Evaluate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3337560" y="365760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Test accuracy + Confusion Matrix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989320" y="3794760"/>
            <a:ext cx="22860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217920" y="2971800"/>
            <a:ext cx="2743200" cy="1737360"/>
          </a:xfrm>
          <a:prstGeom prst="rect">
            <a:avLst/>
          </a:prstGeom>
          <a:solidFill>
            <a:srgbClr val="F0F4FF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09360" y="306324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09360" y="3063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949440" y="31089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</a:rPr>
              <a:t>Predict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6309360" y="365760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Real-world digit classification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0" y="1828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1E2761"/>
                </a:solidFill>
              </a:rPr>
              <a:t>05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18288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761"/>
                </a:solidFill>
              </a:rPr>
              <a:t>Neural Network Architecture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8595360" cy="18288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97280"/>
            <a:ext cx="1828800" cy="201168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3444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</a:rPr>
              <a:t>INPUT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</a:rPr>
              <a:t>Flatten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214884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761"/>
                </a:solidFill>
              </a:rPr>
              <a:t>28×28 → 784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94560" y="2011680"/>
            <a:ext cx="320040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94560" y="1828800"/>
            <a:ext cx="320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514600" y="1097280"/>
            <a:ext cx="1828800" cy="20116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14600" y="123444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HIDDEN 1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Dense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514600" y="214884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50 neurons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ReLU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43400" y="2011680"/>
            <a:ext cx="320040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43400" y="1828800"/>
            <a:ext cx="320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663440" y="1097280"/>
            <a:ext cx="1828800" cy="20116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123444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HIDDEN 2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Dense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663440" y="214884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50 neurons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ReLU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92240" y="2011680"/>
            <a:ext cx="320040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1828800"/>
            <a:ext cx="320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812280" y="1097280"/>
            <a:ext cx="1828800" cy="20116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123444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OUTPUT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Dense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12280" y="214884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10 neurons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Sigmoid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74320" y="333756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Architecture Highlights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74320" y="374904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</a:rPr>
              <a:t>● </a:t>
            </a:r>
            <a:r>
              <a:rPr lang="en-US" sz="1200" dirty="0">
                <a:solidFill>
                  <a:srgbClr val="1E293B"/>
                </a:solidFill>
              </a:rPr>
              <a:t>Flatten: Converts 28×28 image → 1D vector of 784 values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74320" y="4087368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</a:rPr>
              <a:t>● </a:t>
            </a:r>
            <a:r>
              <a:rPr lang="en-US" sz="1200" dirty="0">
                <a:solidFill>
                  <a:srgbClr val="1E293B"/>
                </a:solidFill>
              </a:rPr>
              <a:t>ReLU: Introduces non-linearity; prevents vanishing gradients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74320" y="4425696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</a:rPr>
              <a:t>● </a:t>
            </a:r>
            <a:r>
              <a:rPr lang="en-US" sz="1200" dirty="0">
                <a:solidFill>
                  <a:srgbClr val="1E293B"/>
                </a:solidFill>
              </a:rPr>
              <a:t>Sigmoid Output: Outputs probabilities for each class (0–9)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0" y="1828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1E2761"/>
                </a:solidFill>
              </a:rPr>
              <a:t>06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18288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761"/>
                </a:solidFill>
              </a:rPr>
              <a:t>Model Compilation &amp; Training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8595360" cy="18288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05840"/>
            <a:ext cx="4114800" cy="1188720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80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05840" y="10972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Optimizer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14173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</a:rPr>
              <a:t>Adam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05840" y="17830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Adaptive learning rates for fast convergence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17720" y="1005840"/>
            <a:ext cx="4114800" cy="1188720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280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📉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349240" y="10972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Loss Function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49240" y="14173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</a:rPr>
              <a:t>Sparse Cat. Crossentropy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349240" y="17830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Ideal for integer class labels (0–9)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331720"/>
            <a:ext cx="4114800" cy="1188720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606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05840" y="24231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Metric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05840" y="27432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</a:rPr>
              <a:t>Accuracy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005840" y="31089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% of correctly classified images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17720" y="2331720"/>
            <a:ext cx="4114800" cy="1188720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2606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🔄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349240" y="24231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Epochs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49240" y="27432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</a:rPr>
              <a:t>10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349240" y="31089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Full passes through all 60,000 images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3657600"/>
            <a:ext cx="4114800" cy="1188720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3931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🔑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005840" y="3749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Random Seed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05840" y="4069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</a:rPr>
              <a:t>3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005840" y="44348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Ensures reproducible results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17720" y="3657600"/>
            <a:ext cx="4114800" cy="1188720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3931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🗜️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5349240" y="3749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Batch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349240" y="4069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</a:rPr>
              <a:t>Default (32)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5349240" y="44348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Mini-batch gradient descent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74320" y="4617720"/>
            <a:ext cx="8595360" cy="36576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lIns="50800" tIns="101600" rIns="1016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model.compile(optimizer='adam', loss='sparse_categorical_crossentropy', metrics=['accuracy'])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0" y="1828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1E2761"/>
                </a:solidFill>
              </a:rPr>
              <a:t>07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18288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761"/>
                </a:solidFill>
              </a:rPr>
              <a:t>Training Progress — 10 Epochs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8595360" cy="18288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3323844"/>
            <a:ext cx="640080" cy="699516"/>
          </a:xfrm>
          <a:prstGeom prst="rect">
            <a:avLst/>
          </a:prstGeom>
          <a:solidFill>
            <a:srgbClr val="EF4444">
              <a:alpha val="9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2958084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</a:rPr>
              <a:t>85.1%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82880" y="40690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E1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097280" y="1869948"/>
            <a:ext cx="640080" cy="2153412"/>
          </a:xfrm>
          <a:prstGeom prst="rect">
            <a:avLst/>
          </a:prstGeom>
          <a:solidFill>
            <a:srgbClr val="F59E0B">
              <a:alpha val="9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504188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</a:rPr>
              <a:t>95.7%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005840" y="40690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E2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920240" y="1691640"/>
            <a:ext cx="640080" cy="2331720"/>
          </a:xfrm>
          <a:prstGeom prst="rect">
            <a:avLst/>
          </a:prstGeom>
          <a:solidFill>
            <a:srgbClr val="F59E0B">
              <a:alpha val="9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28800" y="132588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</a:rPr>
              <a:t>97%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828800" y="40690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E3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0" y="1595628"/>
            <a:ext cx="640080" cy="2427732"/>
          </a:xfrm>
          <a:prstGeom prst="rect">
            <a:avLst/>
          </a:prstGeom>
          <a:solidFill>
            <a:srgbClr val="22C55E">
              <a:alpha val="9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51760" y="1229868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</a:rPr>
              <a:t>97.7%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651760" y="40690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E4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566160" y="1540764"/>
            <a:ext cx="640080" cy="2482596"/>
          </a:xfrm>
          <a:prstGeom prst="rect">
            <a:avLst/>
          </a:prstGeom>
          <a:solidFill>
            <a:srgbClr val="22C55E">
              <a:alpha val="9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1175004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</a:rPr>
              <a:t>98.1%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474720" y="40690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E5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389120" y="1485900"/>
            <a:ext cx="640080" cy="2537460"/>
          </a:xfrm>
          <a:prstGeom prst="rect">
            <a:avLst/>
          </a:prstGeom>
          <a:solidFill>
            <a:srgbClr val="22C55E">
              <a:alpha val="9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97680" y="112014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</a:rPr>
              <a:t>98.5%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297680" y="40690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E6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212080" y="1458468"/>
            <a:ext cx="640080" cy="2564892"/>
          </a:xfrm>
          <a:prstGeom prst="rect">
            <a:avLst/>
          </a:prstGeom>
          <a:solidFill>
            <a:srgbClr val="22C55E">
              <a:alpha val="9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20640" y="1092708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</a:rPr>
              <a:t>98.7%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120640" y="40690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E7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035040" y="1431036"/>
            <a:ext cx="640080" cy="2592324"/>
          </a:xfrm>
          <a:prstGeom prst="rect">
            <a:avLst/>
          </a:prstGeom>
          <a:solidFill>
            <a:srgbClr val="22C55E">
              <a:alpha val="9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0" y="1065276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</a:rPr>
              <a:t>98.9%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943600" y="40690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E8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858000" y="1417320"/>
            <a:ext cx="640080" cy="2606040"/>
          </a:xfrm>
          <a:prstGeom prst="rect">
            <a:avLst/>
          </a:prstGeom>
          <a:solidFill>
            <a:srgbClr val="22C55E">
              <a:alpha val="9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66560" y="105156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</a:rPr>
              <a:t>99%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766560" y="40690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E9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680960" y="1389888"/>
            <a:ext cx="640080" cy="2633472"/>
          </a:xfrm>
          <a:prstGeom prst="rect">
            <a:avLst/>
          </a:prstGeom>
          <a:solidFill>
            <a:srgbClr val="22C55E">
              <a:alpha val="9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589520" y="1024128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</a:rPr>
              <a:t>99.2%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589520" y="40690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E10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82880" y="4023360"/>
            <a:ext cx="8686800" cy="1828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0" y="1828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1E2761"/>
                </a:solidFill>
              </a:rPr>
              <a:t>08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18288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761"/>
                </a:solidFill>
              </a:rPr>
              <a:t>Model Performance &amp; Results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8595360" cy="18288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14400"/>
            <a:ext cx="4114800" cy="17373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097280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99.2%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274320" y="18288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Training Accuracy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22402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After 10 epochs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17720" y="914400"/>
            <a:ext cx="4114800" cy="17373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17720" y="1097280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97.0%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4617720" y="18288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Test Accuracy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17720" y="22402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On 10K unseen images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834640"/>
            <a:ext cx="4114800" cy="1737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74320" y="3017520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0.134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274320" y="37490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Test Loss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74320" y="41605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Cross-entropy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17720" y="2834640"/>
            <a:ext cx="4114800" cy="1737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617720" y="3017520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~9,700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4617720" y="37490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Correct Predictions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617720" y="41605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Out of 10,000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0" y="1828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1E2761"/>
                </a:solidFill>
              </a:rPr>
              <a:t>09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18288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761"/>
                </a:solidFill>
              </a:rPr>
              <a:t>Confusion Matrix Analysis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8595360" cy="18288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1440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A confusion matrix shows correct predictions (diagonal) vs. misclassifications (off-diagonal). The darker the diagonal, the better the model.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1280160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21792" y="1280160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4748B"/>
                </a:solidFill>
              </a:rPr>
              <a:t>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969264" y="1280160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4748B"/>
                </a:solidFill>
              </a:rPr>
              <a:t>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316736" y="1280160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4748B"/>
                </a:solidFill>
              </a:rPr>
              <a:t>2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664208" y="1280160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4748B"/>
                </a:solidFill>
              </a:rPr>
              <a:t>3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011680" y="1280160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4748B"/>
                </a:solidFill>
              </a:rPr>
              <a:t>4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359152" y="1280160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4748B"/>
                </a:solidFill>
              </a:rPr>
              <a:t>5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706624" y="1280160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4748B"/>
                </a:solidFill>
              </a:rPr>
              <a:t>6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054096" y="1280160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4748B"/>
                </a:solidFill>
              </a:rPr>
              <a:t>7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401568" y="1280160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4748B"/>
                </a:solidFill>
              </a:rPr>
              <a:t>8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74320" y="15544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2761"/>
                </a:solidFill>
              </a:rPr>
              <a:t>0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21792" y="1554480"/>
            <a:ext cx="347472" cy="347472"/>
          </a:xfrm>
          <a:prstGeom prst="rect">
            <a:avLst/>
          </a:prstGeom>
          <a:solidFill>
            <a:srgbClr val="1E2761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" y="15544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</a:rPr>
              <a:t>962</a:t>
            </a:r>
            <a:endParaRPr lang="en-US" sz="600" dirty="0"/>
          </a:p>
        </p:txBody>
      </p:sp>
      <p:sp>
        <p:nvSpPr>
          <p:cNvPr id="20" name="Shape 18"/>
          <p:cNvSpPr/>
          <p:nvPr/>
        </p:nvSpPr>
        <p:spPr>
          <a:xfrm>
            <a:off x="969264" y="1554480"/>
            <a:ext cx="347472" cy="347472"/>
          </a:xfrm>
          <a:prstGeom prst="rect">
            <a:avLst/>
          </a:prstGeom>
          <a:solidFill>
            <a:srgbClr val="F0F0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9264" y="15544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E293B"/>
                </a:solidFill>
              </a:rPr>
              <a:t>4</a:t>
            </a:r>
            <a:endParaRPr lang="en-US" sz="600" dirty="0"/>
          </a:p>
        </p:txBody>
      </p:sp>
      <p:sp>
        <p:nvSpPr>
          <p:cNvPr id="22" name="Shape 20"/>
          <p:cNvSpPr/>
          <p:nvPr/>
        </p:nvSpPr>
        <p:spPr>
          <a:xfrm>
            <a:off x="1316736" y="1554480"/>
            <a:ext cx="347472" cy="347472"/>
          </a:xfrm>
          <a:prstGeom prst="rect">
            <a:avLst/>
          </a:prstGeom>
          <a:solidFill>
            <a:srgbClr val="F0F0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16736" y="15544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E293B"/>
                </a:solidFill>
              </a:rPr>
              <a:t>5</a:t>
            </a:r>
            <a:endParaRPr lang="en-US" sz="600" dirty="0"/>
          </a:p>
        </p:txBody>
      </p:sp>
      <p:sp>
        <p:nvSpPr>
          <p:cNvPr id="24" name="Shape 22"/>
          <p:cNvSpPr/>
          <p:nvPr/>
        </p:nvSpPr>
        <p:spPr>
          <a:xfrm>
            <a:off x="1664208" y="1554480"/>
            <a:ext cx="347472" cy="347472"/>
          </a:xfrm>
          <a:prstGeom prst="rect">
            <a:avLst/>
          </a:prstGeom>
          <a:solidFill>
            <a:srgbClr val="F0F0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664208" y="15544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600" dirty="0"/>
          </a:p>
        </p:txBody>
      </p:sp>
      <p:sp>
        <p:nvSpPr>
          <p:cNvPr id="26" name="Shape 24"/>
          <p:cNvSpPr/>
          <p:nvPr/>
        </p:nvSpPr>
        <p:spPr>
          <a:xfrm>
            <a:off x="2011680" y="1554480"/>
            <a:ext cx="347472" cy="347472"/>
          </a:xfrm>
          <a:prstGeom prst="rect">
            <a:avLst/>
          </a:prstGeom>
          <a:solidFill>
            <a:srgbClr val="F0F0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11680" y="15544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E293B"/>
                </a:solidFill>
              </a:rPr>
              <a:t>4</a:t>
            </a:r>
            <a:endParaRPr lang="en-US" sz="600" dirty="0"/>
          </a:p>
        </p:txBody>
      </p:sp>
      <p:sp>
        <p:nvSpPr>
          <p:cNvPr id="28" name="Shape 26"/>
          <p:cNvSpPr/>
          <p:nvPr/>
        </p:nvSpPr>
        <p:spPr>
          <a:xfrm>
            <a:off x="2359152" y="1554480"/>
            <a:ext cx="347472" cy="347472"/>
          </a:xfrm>
          <a:prstGeom prst="rect">
            <a:avLst/>
          </a:prstGeom>
          <a:solidFill>
            <a:srgbClr val="F0F0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59152" y="15544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E293B"/>
                </a:solidFill>
              </a:rPr>
              <a:t>2</a:t>
            </a:r>
            <a:endParaRPr lang="en-US" sz="600" dirty="0"/>
          </a:p>
        </p:txBody>
      </p:sp>
      <p:sp>
        <p:nvSpPr>
          <p:cNvPr id="30" name="Shape 28"/>
          <p:cNvSpPr/>
          <p:nvPr/>
        </p:nvSpPr>
        <p:spPr>
          <a:xfrm>
            <a:off x="2706624" y="1554480"/>
            <a:ext cx="347472" cy="347472"/>
          </a:xfrm>
          <a:prstGeom prst="rect">
            <a:avLst/>
          </a:prstGeom>
          <a:solidFill>
            <a:srgbClr val="F0F0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06624" y="15544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E293B"/>
                </a:solidFill>
              </a:rPr>
              <a:t>10</a:t>
            </a:r>
            <a:endParaRPr lang="en-US" sz="600" dirty="0"/>
          </a:p>
        </p:txBody>
      </p:sp>
      <p:sp>
        <p:nvSpPr>
          <p:cNvPr id="32" name="Shape 30"/>
          <p:cNvSpPr/>
          <p:nvPr/>
        </p:nvSpPr>
        <p:spPr>
          <a:xfrm>
            <a:off x="3054096" y="1554480"/>
            <a:ext cx="347472" cy="347472"/>
          </a:xfrm>
          <a:prstGeom prst="rect">
            <a:avLst/>
          </a:prstGeom>
          <a:solidFill>
            <a:srgbClr val="F0F0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054096" y="15544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E293B"/>
                </a:solidFill>
              </a:rPr>
              <a:t>5</a:t>
            </a:r>
            <a:endParaRPr lang="en-US" sz="600" dirty="0"/>
          </a:p>
        </p:txBody>
      </p:sp>
      <p:sp>
        <p:nvSpPr>
          <p:cNvPr id="34" name="Shape 32"/>
          <p:cNvSpPr/>
          <p:nvPr/>
        </p:nvSpPr>
        <p:spPr>
          <a:xfrm>
            <a:off x="3401568" y="1554480"/>
            <a:ext cx="347472" cy="347472"/>
          </a:xfrm>
          <a:prstGeom prst="rect">
            <a:avLst/>
          </a:prstGeom>
          <a:solidFill>
            <a:srgbClr val="F0F0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01568" y="15544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E293B"/>
                </a:solidFill>
              </a:rPr>
              <a:t>13</a:t>
            </a:r>
            <a:endParaRPr lang="en-US" sz="600" dirty="0"/>
          </a:p>
        </p:txBody>
      </p:sp>
      <p:sp>
        <p:nvSpPr>
          <p:cNvPr id="36" name="Shape 34"/>
          <p:cNvSpPr/>
          <p:nvPr/>
        </p:nvSpPr>
        <p:spPr>
          <a:xfrm>
            <a:off x="3749040" y="1554480"/>
            <a:ext cx="347472" cy="347472"/>
          </a:xfrm>
          <a:prstGeom prst="rect">
            <a:avLst/>
          </a:prstGeom>
          <a:solidFill>
            <a:srgbClr val="F0F0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749040" y="15544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E293B"/>
                </a:solidFill>
              </a:rPr>
              <a:t>8</a:t>
            </a:r>
            <a:endParaRPr lang="en-US" sz="600" dirty="0"/>
          </a:p>
        </p:txBody>
      </p:sp>
      <p:sp>
        <p:nvSpPr>
          <p:cNvPr id="38" name="Text 36"/>
          <p:cNvSpPr/>
          <p:nvPr/>
        </p:nvSpPr>
        <p:spPr>
          <a:xfrm>
            <a:off x="274320" y="190195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2761"/>
                </a:solidFill>
              </a:rPr>
              <a:t>1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621792" y="1901952"/>
            <a:ext cx="347472" cy="347472"/>
          </a:xfrm>
          <a:prstGeom prst="rect">
            <a:avLst/>
          </a:prstGeom>
          <a:solidFill>
            <a:srgbClr val="F0F0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1792" y="190195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E293B"/>
                </a:solidFill>
              </a:rPr>
              <a:t>5</a:t>
            </a:r>
            <a:endParaRPr lang="en-US" sz="600" dirty="0"/>
          </a:p>
        </p:txBody>
      </p:sp>
      <p:sp>
        <p:nvSpPr>
          <p:cNvPr id="41" name="Shape 39"/>
          <p:cNvSpPr/>
          <p:nvPr/>
        </p:nvSpPr>
        <p:spPr>
          <a:xfrm>
            <a:off x="969264" y="1901952"/>
            <a:ext cx="347472" cy="347472"/>
          </a:xfrm>
          <a:prstGeom prst="rect">
            <a:avLst/>
          </a:prstGeom>
          <a:solidFill>
            <a:srgbClr val="1E2761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69264" y="190195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</a:rPr>
              <a:t>1118</a:t>
            </a:r>
            <a:endParaRPr lang="en-US" sz="600" dirty="0"/>
          </a:p>
        </p:txBody>
      </p:sp>
      <p:sp>
        <p:nvSpPr>
          <p:cNvPr id="43" name="Shape 41"/>
          <p:cNvSpPr/>
          <p:nvPr/>
        </p:nvSpPr>
        <p:spPr>
          <a:xfrm>
            <a:off x="1316736" y="1901952"/>
            <a:ext cx="347472" cy="347472"/>
          </a:xfrm>
          <a:prstGeom prst="rect">
            <a:avLst/>
          </a:prstGeom>
          <a:solidFill>
            <a:srgbClr val="F0F0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316736" y="190195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600" dirty="0"/>
          </a:p>
        </p:txBody>
      </p:sp>
      <p:sp>
        <p:nvSpPr>
          <p:cNvPr id="45" name="Shape 43"/>
          <p:cNvSpPr/>
          <p:nvPr/>
        </p:nvSpPr>
        <p:spPr>
          <a:xfrm>
            <a:off x="1664208" y="1901952"/>
            <a:ext cx="347472" cy="347472"/>
          </a:xfrm>
          <a:prstGeom prst="rect">
            <a:avLst/>
          </a:prstGeom>
          <a:solidFill>
            <a:srgbClr val="F0F0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664208" y="190195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E293B"/>
                </a:solidFill>
              </a:rPr>
              <a:t>10</a:t>
            </a:r>
            <a:endParaRPr lang="en-US" sz="600" dirty="0"/>
          </a:p>
        </p:txBody>
      </p:sp>
      <p:sp>
        <p:nvSpPr>
          <p:cNvPr id="47" name="Shape 45"/>
          <p:cNvSpPr/>
          <p:nvPr/>
        </p:nvSpPr>
        <p:spPr>
          <a:xfrm>
            <a:off x="2011680" y="1901952"/>
            <a:ext cx="347472" cy="347472"/>
          </a:xfrm>
          <a:prstGeom prst="rect">
            <a:avLst/>
          </a:prstGeom>
          <a:solidFill>
            <a:srgbClr val="F0F0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011680" y="190195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E293B"/>
                </a:solidFill>
              </a:rPr>
              <a:t>14</a:t>
            </a:r>
            <a:endParaRPr lang="en-US" sz="600" dirty="0"/>
          </a:p>
        </p:txBody>
      </p:sp>
      <p:sp>
        <p:nvSpPr>
          <p:cNvPr id="49" name="Shape 47"/>
          <p:cNvSpPr/>
          <p:nvPr/>
        </p:nvSpPr>
        <p:spPr>
          <a:xfrm>
            <a:off x="2359152" y="1901952"/>
            <a:ext cx="347472" cy="347472"/>
          </a:xfrm>
          <a:prstGeom prst="rect">
            <a:avLst/>
          </a:prstGeom>
          <a:solidFill>
            <a:srgbClr val="F0F0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359152" y="190195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E293B"/>
                </a:solidFill>
              </a:rPr>
              <a:t>1</a:t>
            </a:r>
            <a:endParaRPr lang="en-US" sz="600" dirty="0"/>
          </a:p>
        </p:txBody>
      </p:sp>
      <p:sp>
        <p:nvSpPr>
          <p:cNvPr id="51" name="Shape 49"/>
          <p:cNvSpPr/>
          <p:nvPr/>
        </p:nvSpPr>
        <p:spPr>
          <a:xfrm>
            <a:off x="2706624" y="1901952"/>
            <a:ext cx="347472" cy="347472"/>
          </a:xfrm>
          <a:prstGeom prst="rect">
            <a:avLst/>
          </a:prstGeom>
          <a:solidFill>
            <a:srgbClr val="F0F0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706624" y="190195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600" dirty="0"/>
          </a:p>
        </p:txBody>
      </p:sp>
      <p:sp>
        <p:nvSpPr>
          <p:cNvPr id="53" name="Shape 51"/>
          <p:cNvSpPr/>
          <p:nvPr/>
        </p:nvSpPr>
        <p:spPr>
          <a:xfrm>
            <a:off x="3054096" y="1901952"/>
            <a:ext cx="347472" cy="347472"/>
          </a:xfrm>
          <a:prstGeom prst="rect">
            <a:avLst/>
          </a:prstGeom>
          <a:solidFill>
            <a:srgbClr val="F0F0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054096" y="190195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E293B"/>
                </a:solidFill>
              </a:rPr>
              <a:t>2</a:t>
            </a:r>
            <a:endParaRPr lang="en-US" sz="600" dirty="0"/>
          </a:p>
        </p:txBody>
      </p:sp>
      <p:sp>
        <p:nvSpPr>
          <p:cNvPr id="55" name="Shape 53"/>
          <p:cNvSpPr/>
          <p:nvPr/>
        </p:nvSpPr>
        <p:spPr>
          <a:xfrm>
            <a:off x="3401568" y="1901952"/>
            <a:ext cx="347472" cy="347472"/>
          </a:xfrm>
          <a:prstGeom prst="rect">
            <a:avLst/>
          </a:prstGeom>
          <a:solidFill>
            <a:srgbClr val="F0F0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401568" y="190195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E293B"/>
                </a:solidFill>
              </a:rPr>
              <a:t>3</a:t>
            </a:r>
            <a:endParaRPr lang="en-US" sz="600" dirty="0"/>
          </a:p>
        </p:txBody>
      </p:sp>
      <p:sp>
        <p:nvSpPr>
          <p:cNvPr id="57" name="Shape 55"/>
          <p:cNvSpPr/>
          <p:nvPr/>
        </p:nvSpPr>
        <p:spPr>
          <a:xfrm>
            <a:off x="3749040" y="1901952"/>
            <a:ext cx="347472" cy="347472"/>
          </a:xfrm>
          <a:prstGeom prst="rect">
            <a:avLst/>
          </a:prstGeom>
          <a:solidFill>
            <a:srgbClr val="F0F0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749040" y="190195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E293B"/>
                </a:solidFill>
              </a:rPr>
              <a:t>8</a:t>
            </a:r>
            <a:endParaRPr lang="en-US" sz="600" dirty="0"/>
          </a:p>
        </p:txBody>
      </p:sp>
      <p:sp>
        <p:nvSpPr>
          <p:cNvPr id="59" name="Text 57"/>
          <p:cNvSpPr/>
          <p:nvPr/>
        </p:nvSpPr>
        <p:spPr>
          <a:xfrm>
            <a:off x="274320" y="224942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2761"/>
                </a:solidFill>
              </a:rPr>
              <a:t>2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621792" y="2249424"/>
            <a:ext cx="347472" cy="347472"/>
          </a:xfrm>
          <a:prstGeom prst="rect">
            <a:avLst/>
          </a:prstGeom>
          <a:solidFill>
            <a:srgbClr val="F0F0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21792" y="224942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E293B"/>
                </a:solidFill>
              </a:rPr>
              <a:t>4</a:t>
            </a:r>
            <a:endParaRPr lang="en-US" sz="600" dirty="0"/>
          </a:p>
        </p:txBody>
      </p:sp>
      <p:sp>
        <p:nvSpPr>
          <p:cNvPr id="62" name="Shape 60"/>
          <p:cNvSpPr/>
          <p:nvPr/>
        </p:nvSpPr>
        <p:spPr>
          <a:xfrm>
            <a:off x="969264" y="2249424"/>
            <a:ext cx="347472" cy="347472"/>
          </a:xfrm>
          <a:prstGeom prst="rect">
            <a:avLst/>
          </a:prstGeom>
          <a:solidFill>
            <a:srgbClr val="F0F0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69264" y="224942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E293B"/>
                </a:solidFill>
              </a:rPr>
              <a:t>5</a:t>
            </a:r>
            <a:endParaRPr lang="en-US" sz="600" dirty="0"/>
          </a:p>
        </p:txBody>
      </p:sp>
      <p:sp>
        <p:nvSpPr>
          <p:cNvPr id="64" name="Shape 62"/>
          <p:cNvSpPr/>
          <p:nvPr/>
        </p:nvSpPr>
        <p:spPr>
          <a:xfrm>
            <a:off x="1316736" y="2249424"/>
            <a:ext cx="347472" cy="347472"/>
          </a:xfrm>
          <a:prstGeom prst="rect">
            <a:avLst/>
          </a:prstGeom>
          <a:solidFill>
            <a:srgbClr val="1E2761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316736" y="224942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</a:rPr>
              <a:t>997</a:t>
            </a:r>
            <a:endParaRPr lang="en-US" sz="600" dirty="0"/>
          </a:p>
        </p:txBody>
      </p:sp>
      <p:sp>
        <p:nvSpPr>
          <p:cNvPr id="66" name="Shape 64"/>
          <p:cNvSpPr/>
          <p:nvPr/>
        </p:nvSpPr>
        <p:spPr>
          <a:xfrm>
            <a:off x="1664208" y="2249424"/>
            <a:ext cx="347472" cy="347472"/>
          </a:xfrm>
          <a:prstGeom prst="rect">
            <a:avLst/>
          </a:prstGeom>
          <a:solidFill>
            <a:srgbClr val="F0F0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664208" y="224942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E293B"/>
                </a:solidFill>
              </a:rPr>
              <a:t>11</a:t>
            </a:r>
            <a:endParaRPr lang="en-US" sz="600" dirty="0"/>
          </a:p>
        </p:txBody>
      </p:sp>
      <p:sp>
        <p:nvSpPr>
          <p:cNvPr id="68" name="Shape 66"/>
          <p:cNvSpPr/>
          <p:nvPr/>
        </p:nvSpPr>
        <p:spPr>
          <a:xfrm>
            <a:off x="2011680" y="2249424"/>
            <a:ext cx="347472" cy="347472"/>
          </a:xfrm>
          <a:prstGeom prst="rect">
            <a:avLst/>
          </a:prstGeom>
          <a:solidFill>
            <a:srgbClr val="F0F0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011680" y="224942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E293B"/>
                </a:solidFill>
              </a:rPr>
              <a:t>5</a:t>
            </a:r>
            <a:endParaRPr lang="en-US" sz="600" dirty="0"/>
          </a:p>
        </p:txBody>
      </p:sp>
      <p:sp>
        <p:nvSpPr>
          <p:cNvPr id="70" name="Shape 68"/>
          <p:cNvSpPr/>
          <p:nvPr/>
        </p:nvSpPr>
        <p:spPr>
          <a:xfrm>
            <a:off x="2359152" y="2249424"/>
            <a:ext cx="347472" cy="347472"/>
          </a:xfrm>
          <a:prstGeom prst="rect">
            <a:avLst/>
          </a:prstGeom>
          <a:solidFill>
            <a:srgbClr val="F0F0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2359152" y="224942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E293B"/>
                </a:solidFill>
              </a:rPr>
              <a:t>2</a:t>
            </a:r>
            <a:endParaRPr lang="en-US" sz="600" dirty="0"/>
          </a:p>
        </p:txBody>
      </p:sp>
      <p:sp>
        <p:nvSpPr>
          <p:cNvPr id="72" name="Shape 70"/>
          <p:cNvSpPr/>
          <p:nvPr/>
        </p:nvSpPr>
        <p:spPr>
          <a:xfrm>
            <a:off x="2706624" y="2249424"/>
            <a:ext cx="347472" cy="347472"/>
          </a:xfrm>
          <a:prstGeom prst="rect">
            <a:avLst/>
          </a:prstGeom>
          <a:solidFill>
            <a:srgbClr val="F0F0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2706624" y="224942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E293B"/>
                </a:solidFill>
              </a:rPr>
              <a:t>12</a:t>
            </a:r>
            <a:endParaRPr lang="en-US" sz="600" dirty="0"/>
          </a:p>
        </p:txBody>
      </p:sp>
      <p:sp>
        <p:nvSpPr>
          <p:cNvPr id="74" name="Shape 72"/>
          <p:cNvSpPr/>
          <p:nvPr/>
        </p:nvSpPr>
        <p:spPr>
          <a:xfrm>
            <a:off x="3054096" y="2249424"/>
            <a:ext cx="347472" cy="347472"/>
          </a:xfrm>
          <a:prstGeom prst="rect">
            <a:avLst/>
          </a:prstGeom>
          <a:solidFill>
            <a:srgbClr val="F0F0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054096" y="224942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E293B"/>
                </a:solidFill>
              </a:rPr>
              <a:t>13</a:t>
            </a:r>
            <a:endParaRPr lang="en-US" sz="600" dirty="0"/>
          </a:p>
        </p:txBody>
      </p:sp>
      <p:sp>
        <p:nvSpPr>
          <p:cNvPr id="76" name="Shape 74"/>
          <p:cNvSpPr/>
          <p:nvPr/>
        </p:nvSpPr>
        <p:spPr>
          <a:xfrm>
            <a:off x="3401568" y="2249424"/>
            <a:ext cx="347472" cy="347472"/>
          </a:xfrm>
          <a:prstGeom prst="rect">
            <a:avLst/>
          </a:prstGeom>
          <a:solidFill>
            <a:srgbClr val="F0F0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401568" y="224942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E293B"/>
                </a:solidFill>
              </a:rPr>
              <a:t>14</a:t>
            </a:r>
            <a:endParaRPr lang="en-US" sz="600" dirty="0"/>
          </a:p>
        </p:txBody>
      </p:sp>
      <p:sp>
        <p:nvSpPr>
          <p:cNvPr id="78" name="Shape 76"/>
          <p:cNvSpPr/>
          <p:nvPr/>
        </p:nvSpPr>
        <p:spPr>
          <a:xfrm>
            <a:off x="3749040" y="2249424"/>
            <a:ext cx="347472" cy="347472"/>
          </a:xfrm>
          <a:prstGeom prst="rect">
            <a:avLst/>
          </a:prstGeom>
          <a:solidFill>
            <a:srgbClr val="F0F0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749040" y="224942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E293B"/>
                </a:solidFill>
              </a:rPr>
              <a:t>6</a:t>
            </a:r>
            <a:endParaRPr lang="en-US" sz="600" dirty="0"/>
          </a:p>
        </p:txBody>
      </p:sp>
      <p:sp>
        <p:nvSpPr>
          <p:cNvPr id="80" name="Text 78"/>
          <p:cNvSpPr/>
          <p:nvPr/>
        </p:nvSpPr>
        <p:spPr>
          <a:xfrm>
            <a:off x="274320" y="259689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2761"/>
                </a:solidFill>
              </a:rPr>
              <a:t>3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621792" y="2596896"/>
            <a:ext cx="347472" cy="347472"/>
          </a:xfrm>
          <a:prstGeom prst="rect">
            <a:avLst/>
          </a:prstGeom>
          <a:solidFill>
            <a:srgbClr val="F0F0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21792" y="259689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E293B"/>
                </a:solidFill>
              </a:rPr>
              <a:t>6</a:t>
            </a:r>
            <a:endParaRPr lang="en-US" sz="600" dirty="0"/>
          </a:p>
        </p:txBody>
      </p:sp>
      <p:sp>
        <p:nvSpPr>
          <p:cNvPr id="83" name="Shape 81"/>
          <p:cNvSpPr/>
          <p:nvPr/>
        </p:nvSpPr>
        <p:spPr>
          <a:xfrm>
            <a:off x="969264" y="2596896"/>
            <a:ext cx="347472" cy="347472"/>
          </a:xfrm>
          <a:prstGeom prst="rect">
            <a:avLst/>
          </a:prstGeom>
          <a:solidFill>
            <a:srgbClr val="F0F0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969264" y="259689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E293B"/>
                </a:solidFill>
              </a:rPr>
              <a:t>13</a:t>
            </a:r>
            <a:endParaRPr lang="en-US" sz="600" dirty="0"/>
          </a:p>
        </p:txBody>
      </p:sp>
      <p:sp>
        <p:nvSpPr>
          <p:cNvPr id="85" name="Shape 83"/>
          <p:cNvSpPr/>
          <p:nvPr/>
        </p:nvSpPr>
        <p:spPr>
          <a:xfrm>
            <a:off x="1316736" y="2596896"/>
            <a:ext cx="347472" cy="347472"/>
          </a:xfrm>
          <a:prstGeom prst="rect">
            <a:avLst/>
          </a:prstGeom>
          <a:solidFill>
            <a:srgbClr val="F0F0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1316736" y="259689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E293B"/>
                </a:solidFill>
              </a:rPr>
              <a:t>4</a:t>
            </a:r>
            <a:endParaRPr lang="en-US" sz="600" dirty="0"/>
          </a:p>
        </p:txBody>
      </p:sp>
      <p:sp>
        <p:nvSpPr>
          <p:cNvPr id="87" name="Shape 85"/>
          <p:cNvSpPr/>
          <p:nvPr/>
        </p:nvSpPr>
        <p:spPr>
          <a:xfrm>
            <a:off x="1664208" y="2596896"/>
            <a:ext cx="347472" cy="347472"/>
          </a:xfrm>
          <a:prstGeom prst="rect">
            <a:avLst/>
          </a:prstGeom>
          <a:solidFill>
            <a:srgbClr val="1E2761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1664208" y="259689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</a:rPr>
              <a:t>989</a:t>
            </a:r>
            <a:endParaRPr lang="en-US" sz="600" dirty="0"/>
          </a:p>
        </p:txBody>
      </p:sp>
      <p:sp>
        <p:nvSpPr>
          <p:cNvPr id="89" name="Shape 87"/>
          <p:cNvSpPr/>
          <p:nvPr/>
        </p:nvSpPr>
        <p:spPr>
          <a:xfrm>
            <a:off x="2011680" y="2596896"/>
            <a:ext cx="347472" cy="347472"/>
          </a:xfrm>
          <a:prstGeom prst="rect">
            <a:avLst/>
          </a:prstGeom>
          <a:solidFill>
            <a:srgbClr val="F0F0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2011680" y="259689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E293B"/>
                </a:solidFill>
              </a:rPr>
              <a:t>12</a:t>
            </a:r>
            <a:endParaRPr lang="en-US" sz="600" dirty="0"/>
          </a:p>
        </p:txBody>
      </p:sp>
      <p:sp>
        <p:nvSpPr>
          <p:cNvPr id="91" name="Shape 89"/>
          <p:cNvSpPr/>
          <p:nvPr/>
        </p:nvSpPr>
        <p:spPr>
          <a:xfrm>
            <a:off x="2359152" y="2596896"/>
            <a:ext cx="347472" cy="347472"/>
          </a:xfrm>
          <a:prstGeom prst="rect">
            <a:avLst/>
          </a:prstGeom>
          <a:solidFill>
            <a:srgbClr val="F0F0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2359152" y="259689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E293B"/>
                </a:solidFill>
              </a:rPr>
              <a:t>14</a:t>
            </a:r>
            <a:endParaRPr lang="en-US" sz="600" dirty="0"/>
          </a:p>
        </p:txBody>
      </p:sp>
      <p:sp>
        <p:nvSpPr>
          <p:cNvPr id="93" name="Shape 91"/>
          <p:cNvSpPr/>
          <p:nvPr/>
        </p:nvSpPr>
        <p:spPr>
          <a:xfrm>
            <a:off x="2706624" y="2596896"/>
            <a:ext cx="347472" cy="347472"/>
          </a:xfrm>
          <a:prstGeom prst="rect">
            <a:avLst/>
          </a:prstGeom>
          <a:solidFill>
            <a:srgbClr val="F0F0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2706624" y="259689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E293B"/>
                </a:solidFill>
              </a:rPr>
              <a:t>11</a:t>
            </a:r>
            <a:endParaRPr lang="en-US" sz="600" dirty="0"/>
          </a:p>
        </p:txBody>
      </p:sp>
      <p:sp>
        <p:nvSpPr>
          <p:cNvPr id="95" name="Shape 93"/>
          <p:cNvSpPr/>
          <p:nvPr/>
        </p:nvSpPr>
        <p:spPr>
          <a:xfrm>
            <a:off x="3054096" y="2596896"/>
            <a:ext cx="347472" cy="347472"/>
          </a:xfrm>
          <a:prstGeom prst="rect">
            <a:avLst/>
          </a:prstGeom>
          <a:solidFill>
            <a:srgbClr val="F0F0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3054096" y="259689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E293B"/>
                </a:solidFill>
              </a:rPr>
              <a:t>1</a:t>
            </a:r>
            <a:endParaRPr lang="en-US" sz="600" dirty="0"/>
          </a:p>
        </p:txBody>
      </p:sp>
      <p:sp>
        <p:nvSpPr>
          <p:cNvPr id="97" name="Shape 95"/>
          <p:cNvSpPr/>
          <p:nvPr/>
        </p:nvSpPr>
        <p:spPr>
          <a:xfrm>
            <a:off x="3401568" y="2596896"/>
            <a:ext cx="347472" cy="347472"/>
          </a:xfrm>
          <a:prstGeom prst="rect">
            <a:avLst/>
          </a:prstGeom>
          <a:solidFill>
            <a:srgbClr val="F0F0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3401568" y="259689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E293B"/>
                </a:solidFill>
              </a:rPr>
              <a:t>9</a:t>
            </a:r>
            <a:endParaRPr lang="en-US" sz="600" dirty="0"/>
          </a:p>
        </p:txBody>
      </p:sp>
      <p:sp>
        <p:nvSpPr>
          <p:cNvPr id="99" name="Shape 97"/>
          <p:cNvSpPr/>
          <p:nvPr/>
        </p:nvSpPr>
        <p:spPr>
          <a:xfrm>
            <a:off x="3749040" y="2596896"/>
            <a:ext cx="347472" cy="347472"/>
          </a:xfrm>
          <a:prstGeom prst="rect">
            <a:avLst/>
          </a:prstGeom>
          <a:solidFill>
            <a:srgbClr val="F0F0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3749040" y="259689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E293B"/>
                </a:solidFill>
              </a:rPr>
              <a:t>1</a:t>
            </a:r>
            <a:endParaRPr lang="en-US" sz="600" dirty="0"/>
          </a:p>
        </p:txBody>
      </p:sp>
      <p:sp>
        <p:nvSpPr>
          <p:cNvPr id="101" name="Text 99"/>
          <p:cNvSpPr/>
          <p:nvPr/>
        </p:nvSpPr>
        <p:spPr>
          <a:xfrm>
            <a:off x="274320" y="29443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2761"/>
                </a:solidFill>
              </a:rPr>
              <a:t>4</a:t>
            </a:r>
            <a:endParaRPr lang="en-US" sz="800" dirty="0"/>
          </a:p>
        </p:txBody>
      </p:sp>
      <p:sp>
        <p:nvSpPr>
          <p:cNvPr id="102" name="Shape 100"/>
          <p:cNvSpPr/>
          <p:nvPr/>
        </p:nvSpPr>
        <p:spPr>
          <a:xfrm>
            <a:off x="621792" y="2944368"/>
            <a:ext cx="347472" cy="347472"/>
          </a:xfrm>
          <a:prstGeom prst="rect">
            <a:avLst/>
          </a:prstGeom>
          <a:solidFill>
            <a:srgbClr val="F0F0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621792" y="29443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E293B"/>
                </a:solidFill>
              </a:rPr>
              <a:t>6</a:t>
            </a:r>
            <a:endParaRPr lang="en-US" sz="600" dirty="0"/>
          </a:p>
        </p:txBody>
      </p:sp>
      <p:sp>
        <p:nvSpPr>
          <p:cNvPr id="104" name="Shape 102"/>
          <p:cNvSpPr/>
          <p:nvPr/>
        </p:nvSpPr>
        <p:spPr>
          <a:xfrm>
            <a:off x="969264" y="2944368"/>
            <a:ext cx="347472" cy="347472"/>
          </a:xfrm>
          <a:prstGeom prst="rect">
            <a:avLst/>
          </a:prstGeom>
          <a:solidFill>
            <a:srgbClr val="F0F0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969264" y="29443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E293B"/>
                </a:solidFill>
              </a:rPr>
              <a:t>3</a:t>
            </a:r>
            <a:endParaRPr lang="en-US" sz="600" dirty="0"/>
          </a:p>
        </p:txBody>
      </p:sp>
      <p:sp>
        <p:nvSpPr>
          <p:cNvPr id="106" name="Shape 104"/>
          <p:cNvSpPr/>
          <p:nvPr/>
        </p:nvSpPr>
        <p:spPr>
          <a:xfrm>
            <a:off x="1316736" y="2944368"/>
            <a:ext cx="347472" cy="347472"/>
          </a:xfrm>
          <a:prstGeom prst="rect">
            <a:avLst/>
          </a:prstGeom>
          <a:solidFill>
            <a:srgbClr val="F0F0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1316736" y="29443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E293B"/>
                </a:solidFill>
              </a:rPr>
              <a:t>7</a:t>
            </a:r>
            <a:endParaRPr lang="en-US" sz="600" dirty="0"/>
          </a:p>
        </p:txBody>
      </p:sp>
      <p:sp>
        <p:nvSpPr>
          <p:cNvPr id="108" name="Shape 106"/>
          <p:cNvSpPr/>
          <p:nvPr/>
        </p:nvSpPr>
        <p:spPr>
          <a:xfrm>
            <a:off x="1664208" y="2944368"/>
            <a:ext cx="347472" cy="347472"/>
          </a:xfrm>
          <a:prstGeom prst="rect">
            <a:avLst/>
          </a:prstGeom>
          <a:solidFill>
            <a:srgbClr val="F0F0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1664208" y="29443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E293B"/>
                </a:solidFill>
              </a:rPr>
              <a:t>4</a:t>
            </a:r>
            <a:endParaRPr lang="en-US" sz="600" dirty="0"/>
          </a:p>
        </p:txBody>
      </p:sp>
      <p:sp>
        <p:nvSpPr>
          <p:cNvPr id="110" name="Shape 108"/>
          <p:cNvSpPr/>
          <p:nvPr/>
        </p:nvSpPr>
        <p:spPr>
          <a:xfrm>
            <a:off x="2011680" y="2944368"/>
            <a:ext cx="347472" cy="347472"/>
          </a:xfrm>
          <a:prstGeom prst="rect">
            <a:avLst/>
          </a:prstGeom>
          <a:solidFill>
            <a:srgbClr val="1E2761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2011680" y="29443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</a:rPr>
              <a:t>962</a:t>
            </a:r>
            <a:endParaRPr lang="en-US" sz="600" dirty="0"/>
          </a:p>
        </p:txBody>
      </p:sp>
      <p:sp>
        <p:nvSpPr>
          <p:cNvPr id="112" name="Shape 110"/>
          <p:cNvSpPr/>
          <p:nvPr/>
        </p:nvSpPr>
        <p:spPr>
          <a:xfrm>
            <a:off x="2359152" y="2944368"/>
            <a:ext cx="347472" cy="347472"/>
          </a:xfrm>
          <a:prstGeom prst="rect">
            <a:avLst/>
          </a:prstGeom>
          <a:solidFill>
            <a:srgbClr val="F0F0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2359152" y="29443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E293B"/>
                </a:solidFill>
              </a:rPr>
              <a:t>5</a:t>
            </a:r>
            <a:endParaRPr lang="en-US" sz="600" dirty="0"/>
          </a:p>
        </p:txBody>
      </p:sp>
      <p:sp>
        <p:nvSpPr>
          <p:cNvPr id="114" name="Shape 112"/>
          <p:cNvSpPr/>
          <p:nvPr/>
        </p:nvSpPr>
        <p:spPr>
          <a:xfrm>
            <a:off x="2706624" y="2944368"/>
            <a:ext cx="347472" cy="347472"/>
          </a:xfrm>
          <a:prstGeom prst="rect">
            <a:avLst/>
          </a:prstGeom>
          <a:solidFill>
            <a:srgbClr val="F0F0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2706624" y="29443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E293B"/>
                </a:solidFill>
              </a:rPr>
              <a:t>4</a:t>
            </a:r>
            <a:endParaRPr lang="en-US" sz="600" dirty="0"/>
          </a:p>
        </p:txBody>
      </p:sp>
      <p:sp>
        <p:nvSpPr>
          <p:cNvPr id="116" name="Shape 114"/>
          <p:cNvSpPr/>
          <p:nvPr/>
        </p:nvSpPr>
        <p:spPr>
          <a:xfrm>
            <a:off x="3054096" y="2944368"/>
            <a:ext cx="347472" cy="347472"/>
          </a:xfrm>
          <a:prstGeom prst="rect">
            <a:avLst/>
          </a:prstGeom>
          <a:solidFill>
            <a:srgbClr val="F0F0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3054096" y="29443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E293B"/>
                </a:solidFill>
              </a:rPr>
              <a:t>13</a:t>
            </a:r>
            <a:endParaRPr lang="en-US" sz="600" dirty="0"/>
          </a:p>
        </p:txBody>
      </p:sp>
      <p:sp>
        <p:nvSpPr>
          <p:cNvPr id="118" name="Shape 116"/>
          <p:cNvSpPr/>
          <p:nvPr/>
        </p:nvSpPr>
        <p:spPr>
          <a:xfrm>
            <a:off x="3401568" y="2944368"/>
            <a:ext cx="347472" cy="347472"/>
          </a:xfrm>
          <a:prstGeom prst="rect">
            <a:avLst/>
          </a:prstGeom>
          <a:solidFill>
            <a:srgbClr val="F0F0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3401568" y="29443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600" dirty="0"/>
          </a:p>
        </p:txBody>
      </p:sp>
      <p:sp>
        <p:nvSpPr>
          <p:cNvPr id="120" name="Shape 118"/>
          <p:cNvSpPr/>
          <p:nvPr/>
        </p:nvSpPr>
        <p:spPr>
          <a:xfrm>
            <a:off x="3749040" y="2944368"/>
            <a:ext cx="347472" cy="347472"/>
          </a:xfrm>
          <a:prstGeom prst="rect">
            <a:avLst/>
          </a:prstGeom>
          <a:solidFill>
            <a:srgbClr val="F0F0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3749040" y="29443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E293B"/>
                </a:solidFill>
              </a:rPr>
              <a:t>5</a:t>
            </a:r>
            <a:endParaRPr lang="en-US" sz="600" dirty="0"/>
          </a:p>
        </p:txBody>
      </p:sp>
      <p:sp>
        <p:nvSpPr>
          <p:cNvPr id="122" name="Text 120"/>
          <p:cNvSpPr/>
          <p:nvPr/>
        </p:nvSpPr>
        <p:spPr>
          <a:xfrm>
            <a:off x="274320" y="32918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2761"/>
                </a:solidFill>
              </a:rPr>
              <a:t>5</a:t>
            </a:r>
            <a:endParaRPr lang="en-US" sz="800" dirty="0"/>
          </a:p>
        </p:txBody>
      </p:sp>
      <p:sp>
        <p:nvSpPr>
          <p:cNvPr id="123" name="Shape 121"/>
          <p:cNvSpPr/>
          <p:nvPr/>
        </p:nvSpPr>
        <p:spPr>
          <a:xfrm>
            <a:off x="621792" y="3291840"/>
            <a:ext cx="347472" cy="347472"/>
          </a:xfrm>
          <a:prstGeom prst="rect">
            <a:avLst/>
          </a:prstGeom>
          <a:solidFill>
            <a:srgbClr val="F0F0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621792" y="32918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E293B"/>
                </a:solidFill>
              </a:rPr>
              <a:t>1</a:t>
            </a:r>
            <a:endParaRPr lang="en-US" sz="600" dirty="0"/>
          </a:p>
        </p:txBody>
      </p:sp>
      <p:sp>
        <p:nvSpPr>
          <p:cNvPr id="125" name="Shape 123"/>
          <p:cNvSpPr/>
          <p:nvPr/>
        </p:nvSpPr>
        <p:spPr>
          <a:xfrm>
            <a:off x="969264" y="3291840"/>
            <a:ext cx="347472" cy="347472"/>
          </a:xfrm>
          <a:prstGeom prst="rect">
            <a:avLst/>
          </a:prstGeom>
          <a:solidFill>
            <a:srgbClr val="F0F0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969264" y="32918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E293B"/>
                </a:solidFill>
              </a:rPr>
              <a:t>3</a:t>
            </a:r>
            <a:endParaRPr lang="en-US" sz="600" dirty="0"/>
          </a:p>
        </p:txBody>
      </p:sp>
      <p:sp>
        <p:nvSpPr>
          <p:cNvPr id="127" name="Shape 125"/>
          <p:cNvSpPr/>
          <p:nvPr/>
        </p:nvSpPr>
        <p:spPr>
          <a:xfrm>
            <a:off x="1316736" y="3291840"/>
            <a:ext cx="347472" cy="347472"/>
          </a:xfrm>
          <a:prstGeom prst="rect">
            <a:avLst/>
          </a:prstGeom>
          <a:solidFill>
            <a:srgbClr val="F0F0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1316736" y="32918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E293B"/>
                </a:solidFill>
              </a:rPr>
              <a:t>3</a:t>
            </a:r>
            <a:endParaRPr lang="en-US" sz="600" dirty="0"/>
          </a:p>
        </p:txBody>
      </p:sp>
      <p:sp>
        <p:nvSpPr>
          <p:cNvPr id="129" name="Shape 127"/>
          <p:cNvSpPr/>
          <p:nvPr/>
        </p:nvSpPr>
        <p:spPr>
          <a:xfrm>
            <a:off x="1664208" y="3291840"/>
            <a:ext cx="347472" cy="347472"/>
          </a:xfrm>
          <a:prstGeom prst="rect">
            <a:avLst/>
          </a:prstGeom>
          <a:solidFill>
            <a:srgbClr val="F0F0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1664208" y="32918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E293B"/>
                </a:solidFill>
              </a:rPr>
              <a:t>6</a:t>
            </a:r>
            <a:endParaRPr lang="en-US" sz="600" dirty="0"/>
          </a:p>
        </p:txBody>
      </p:sp>
      <p:sp>
        <p:nvSpPr>
          <p:cNvPr id="131" name="Shape 129"/>
          <p:cNvSpPr/>
          <p:nvPr/>
        </p:nvSpPr>
        <p:spPr>
          <a:xfrm>
            <a:off x="2011680" y="3291840"/>
            <a:ext cx="347472" cy="347472"/>
          </a:xfrm>
          <a:prstGeom prst="rect">
            <a:avLst/>
          </a:prstGeom>
          <a:solidFill>
            <a:srgbClr val="F0F0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2011680" y="32918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E293B"/>
                </a:solidFill>
              </a:rPr>
              <a:t>8</a:t>
            </a:r>
            <a:endParaRPr lang="en-US" sz="600" dirty="0"/>
          </a:p>
        </p:txBody>
      </p:sp>
      <p:sp>
        <p:nvSpPr>
          <p:cNvPr id="133" name="Shape 131"/>
          <p:cNvSpPr/>
          <p:nvPr/>
        </p:nvSpPr>
        <p:spPr>
          <a:xfrm>
            <a:off x="2359152" y="3291840"/>
            <a:ext cx="347472" cy="347472"/>
          </a:xfrm>
          <a:prstGeom prst="rect">
            <a:avLst/>
          </a:prstGeom>
          <a:solidFill>
            <a:srgbClr val="1E2761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2359152" y="32918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</a:rPr>
              <a:t>850</a:t>
            </a:r>
            <a:endParaRPr lang="en-US" sz="600" dirty="0"/>
          </a:p>
        </p:txBody>
      </p:sp>
      <p:sp>
        <p:nvSpPr>
          <p:cNvPr id="135" name="Shape 133"/>
          <p:cNvSpPr/>
          <p:nvPr/>
        </p:nvSpPr>
        <p:spPr>
          <a:xfrm>
            <a:off x="2706624" y="3291840"/>
            <a:ext cx="347472" cy="347472"/>
          </a:xfrm>
          <a:prstGeom prst="rect">
            <a:avLst/>
          </a:prstGeom>
          <a:solidFill>
            <a:srgbClr val="F0F0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2706624" y="32918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E293B"/>
                </a:solidFill>
              </a:rPr>
              <a:t>11</a:t>
            </a:r>
            <a:endParaRPr lang="en-US" sz="600" dirty="0"/>
          </a:p>
        </p:txBody>
      </p:sp>
      <p:sp>
        <p:nvSpPr>
          <p:cNvPr id="137" name="Shape 135"/>
          <p:cNvSpPr/>
          <p:nvPr/>
        </p:nvSpPr>
        <p:spPr>
          <a:xfrm>
            <a:off x="3054096" y="3291840"/>
            <a:ext cx="347472" cy="347472"/>
          </a:xfrm>
          <a:prstGeom prst="rect">
            <a:avLst/>
          </a:prstGeom>
          <a:solidFill>
            <a:srgbClr val="F0F0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3054096" y="32918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E293B"/>
                </a:solidFill>
              </a:rPr>
              <a:t>14</a:t>
            </a:r>
            <a:endParaRPr lang="en-US" sz="600" dirty="0"/>
          </a:p>
        </p:txBody>
      </p:sp>
      <p:sp>
        <p:nvSpPr>
          <p:cNvPr id="139" name="Shape 137"/>
          <p:cNvSpPr/>
          <p:nvPr/>
        </p:nvSpPr>
        <p:spPr>
          <a:xfrm>
            <a:off x="3401568" y="3291840"/>
            <a:ext cx="347472" cy="347472"/>
          </a:xfrm>
          <a:prstGeom prst="rect">
            <a:avLst/>
          </a:prstGeom>
          <a:solidFill>
            <a:srgbClr val="F0F0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3401568" y="32918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E293B"/>
                </a:solidFill>
              </a:rPr>
              <a:t>14</a:t>
            </a:r>
            <a:endParaRPr lang="en-US" sz="600" dirty="0"/>
          </a:p>
        </p:txBody>
      </p:sp>
      <p:sp>
        <p:nvSpPr>
          <p:cNvPr id="141" name="Shape 139"/>
          <p:cNvSpPr/>
          <p:nvPr/>
        </p:nvSpPr>
        <p:spPr>
          <a:xfrm>
            <a:off x="3749040" y="3291840"/>
            <a:ext cx="347472" cy="347472"/>
          </a:xfrm>
          <a:prstGeom prst="rect">
            <a:avLst/>
          </a:prstGeom>
          <a:solidFill>
            <a:srgbClr val="F0F0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3749040" y="32918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E293B"/>
                </a:solidFill>
              </a:rPr>
              <a:t>6</a:t>
            </a:r>
            <a:endParaRPr lang="en-US" sz="600" dirty="0"/>
          </a:p>
        </p:txBody>
      </p:sp>
      <p:sp>
        <p:nvSpPr>
          <p:cNvPr id="143" name="Text 141"/>
          <p:cNvSpPr/>
          <p:nvPr/>
        </p:nvSpPr>
        <p:spPr>
          <a:xfrm>
            <a:off x="274320" y="36393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2761"/>
                </a:solidFill>
              </a:rPr>
              <a:t>6</a:t>
            </a:r>
            <a:endParaRPr lang="en-US" sz="800" dirty="0"/>
          </a:p>
        </p:txBody>
      </p:sp>
      <p:sp>
        <p:nvSpPr>
          <p:cNvPr id="144" name="Shape 142"/>
          <p:cNvSpPr/>
          <p:nvPr/>
        </p:nvSpPr>
        <p:spPr>
          <a:xfrm>
            <a:off x="621792" y="3639312"/>
            <a:ext cx="347472" cy="347472"/>
          </a:xfrm>
          <a:prstGeom prst="rect">
            <a:avLst/>
          </a:prstGeom>
          <a:solidFill>
            <a:srgbClr val="F0F0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621792" y="36393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E293B"/>
                </a:solidFill>
              </a:rPr>
              <a:t>7</a:t>
            </a:r>
            <a:endParaRPr lang="en-US" sz="600" dirty="0"/>
          </a:p>
        </p:txBody>
      </p:sp>
      <p:sp>
        <p:nvSpPr>
          <p:cNvPr id="146" name="Shape 144"/>
          <p:cNvSpPr/>
          <p:nvPr/>
        </p:nvSpPr>
        <p:spPr>
          <a:xfrm>
            <a:off x="969264" y="3639312"/>
            <a:ext cx="347472" cy="347472"/>
          </a:xfrm>
          <a:prstGeom prst="rect">
            <a:avLst/>
          </a:prstGeom>
          <a:solidFill>
            <a:srgbClr val="F0F0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969264" y="36393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E293B"/>
                </a:solidFill>
              </a:rPr>
              <a:t>12</a:t>
            </a:r>
            <a:endParaRPr lang="en-US" sz="600" dirty="0"/>
          </a:p>
        </p:txBody>
      </p:sp>
      <p:sp>
        <p:nvSpPr>
          <p:cNvPr id="148" name="Shape 146"/>
          <p:cNvSpPr/>
          <p:nvPr/>
        </p:nvSpPr>
        <p:spPr>
          <a:xfrm>
            <a:off x="1316736" y="3639312"/>
            <a:ext cx="347472" cy="347472"/>
          </a:xfrm>
          <a:prstGeom prst="rect">
            <a:avLst/>
          </a:prstGeom>
          <a:solidFill>
            <a:srgbClr val="F0F0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1316736" y="36393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E293B"/>
                </a:solidFill>
              </a:rPr>
              <a:t>8</a:t>
            </a:r>
            <a:endParaRPr lang="en-US" sz="600" dirty="0"/>
          </a:p>
        </p:txBody>
      </p:sp>
      <p:sp>
        <p:nvSpPr>
          <p:cNvPr id="150" name="Shape 148"/>
          <p:cNvSpPr/>
          <p:nvPr/>
        </p:nvSpPr>
        <p:spPr>
          <a:xfrm>
            <a:off x="1664208" y="3639312"/>
            <a:ext cx="347472" cy="347472"/>
          </a:xfrm>
          <a:prstGeom prst="rect">
            <a:avLst/>
          </a:prstGeom>
          <a:solidFill>
            <a:srgbClr val="F0F0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51" name="Text 149"/>
          <p:cNvSpPr/>
          <p:nvPr/>
        </p:nvSpPr>
        <p:spPr>
          <a:xfrm>
            <a:off x="1664208" y="36393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E293B"/>
                </a:solidFill>
              </a:rPr>
              <a:t>1</a:t>
            </a:r>
            <a:endParaRPr lang="en-US" sz="600" dirty="0"/>
          </a:p>
        </p:txBody>
      </p:sp>
      <p:sp>
        <p:nvSpPr>
          <p:cNvPr id="152" name="Shape 150"/>
          <p:cNvSpPr/>
          <p:nvPr/>
        </p:nvSpPr>
        <p:spPr>
          <a:xfrm>
            <a:off x="2011680" y="3639312"/>
            <a:ext cx="347472" cy="347472"/>
          </a:xfrm>
          <a:prstGeom prst="rect">
            <a:avLst/>
          </a:prstGeom>
          <a:solidFill>
            <a:srgbClr val="F0F0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53" name="Text 151"/>
          <p:cNvSpPr/>
          <p:nvPr/>
        </p:nvSpPr>
        <p:spPr>
          <a:xfrm>
            <a:off x="2011680" y="36393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E293B"/>
                </a:solidFill>
              </a:rPr>
              <a:t>13</a:t>
            </a:r>
            <a:endParaRPr lang="en-US" sz="600" dirty="0"/>
          </a:p>
        </p:txBody>
      </p:sp>
      <p:sp>
        <p:nvSpPr>
          <p:cNvPr id="154" name="Shape 152"/>
          <p:cNvSpPr/>
          <p:nvPr/>
        </p:nvSpPr>
        <p:spPr>
          <a:xfrm>
            <a:off x="2359152" y="3639312"/>
            <a:ext cx="347472" cy="347472"/>
          </a:xfrm>
          <a:prstGeom prst="rect">
            <a:avLst/>
          </a:prstGeom>
          <a:solidFill>
            <a:srgbClr val="F0F0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2359152" y="36393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E293B"/>
                </a:solidFill>
              </a:rPr>
              <a:t>11</a:t>
            </a:r>
            <a:endParaRPr lang="en-US" sz="600" dirty="0"/>
          </a:p>
        </p:txBody>
      </p:sp>
      <p:sp>
        <p:nvSpPr>
          <p:cNvPr id="156" name="Shape 154"/>
          <p:cNvSpPr/>
          <p:nvPr/>
        </p:nvSpPr>
        <p:spPr>
          <a:xfrm>
            <a:off x="2706624" y="3639312"/>
            <a:ext cx="347472" cy="347472"/>
          </a:xfrm>
          <a:prstGeom prst="rect">
            <a:avLst/>
          </a:prstGeom>
          <a:solidFill>
            <a:srgbClr val="1E2761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57" name="Text 155"/>
          <p:cNvSpPr/>
          <p:nvPr/>
        </p:nvSpPr>
        <p:spPr>
          <a:xfrm>
            <a:off x="2706624" y="36393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</a:rPr>
              <a:t>937</a:t>
            </a:r>
            <a:endParaRPr lang="en-US" sz="600" dirty="0"/>
          </a:p>
        </p:txBody>
      </p:sp>
      <p:sp>
        <p:nvSpPr>
          <p:cNvPr id="158" name="Shape 156"/>
          <p:cNvSpPr/>
          <p:nvPr/>
        </p:nvSpPr>
        <p:spPr>
          <a:xfrm>
            <a:off x="3054096" y="3639312"/>
            <a:ext cx="347472" cy="347472"/>
          </a:xfrm>
          <a:prstGeom prst="rect">
            <a:avLst/>
          </a:prstGeom>
          <a:solidFill>
            <a:srgbClr val="F0F0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59" name="Text 157"/>
          <p:cNvSpPr/>
          <p:nvPr/>
        </p:nvSpPr>
        <p:spPr>
          <a:xfrm>
            <a:off x="3054096" y="36393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E293B"/>
                </a:solidFill>
              </a:rPr>
              <a:t>2</a:t>
            </a:r>
            <a:endParaRPr lang="en-US" sz="600" dirty="0"/>
          </a:p>
        </p:txBody>
      </p:sp>
      <p:sp>
        <p:nvSpPr>
          <p:cNvPr id="160" name="Shape 158"/>
          <p:cNvSpPr/>
          <p:nvPr/>
        </p:nvSpPr>
        <p:spPr>
          <a:xfrm>
            <a:off x="3401568" y="3639312"/>
            <a:ext cx="347472" cy="347472"/>
          </a:xfrm>
          <a:prstGeom prst="rect">
            <a:avLst/>
          </a:prstGeom>
          <a:solidFill>
            <a:srgbClr val="F0F0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61" name="Text 159"/>
          <p:cNvSpPr/>
          <p:nvPr/>
        </p:nvSpPr>
        <p:spPr>
          <a:xfrm>
            <a:off x="3401568" y="36393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E293B"/>
                </a:solidFill>
              </a:rPr>
              <a:t>8</a:t>
            </a:r>
            <a:endParaRPr lang="en-US" sz="600" dirty="0"/>
          </a:p>
        </p:txBody>
      </p:sp>
      <p:sp>
        <p:nvSpPr>
          <p:cNvPr id="162" name="Shape 160"/>
          <p:cNvSpPr/>
          <p:nvPr/>
        </p:nvSpPr>
        <p:spPr>
          <a:xfrm>
            <a:off x="3749040" y="3639312"/>
            <a:ext cx="347472" cy="347472"/>
          </a:xfrm>
          <a:prstGeom prst="rect">
            <a:avLst/>
          </a:prstGeom>
          <a:solidFill>
            <a:srgbClr val="F0F0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63" name="Text 161"/>
          <p:cNvSpPr/>
          <p:nvPr/>
        </p:nvSpPr>
        <p:spPr>
          <a:xfrm>
            <a:off x="3749040" y="36393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E293B"/>
                </a:solidFill>
              </a:rPr>
              <a:t>6</a:t>
            </a:r>
            <a:endParaRPr lang="en-US" sz="600" dirty="0"/>
          </a:p>
        </p:txBody>
      </p:sp>
      <p:sp>
        <p:nvSpPr>
          <p:cNvPr id="164" name="Text 162"/>
          <p:cNvSpPr/>
          <p:nvPr/>
        </p:nvSpPr>
        <p:spPr>
          <a:xfrm>
            <a:off x="274320" y="398678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2761"/>
                </a:solidFill>
              </a:rPr>
              <a:t>7</a:t>
            </a:r>
            <a:endParaRPr lang="en-US" sz="800" dirty="0"/>
          </a:p>
        </p:txBody>
      </p:sp>
      <p:sp>
        <p:nvSpPr>
          <p:cNvPr id="165" name="Shape 163"/>
          <p:cNvSpPr/>
          <p:nvPr/>
        </p:nvSpPr>
        <p:spPr>
          <a:xfrm>
            <a:off x="621792" y="3986784"/>
            <a:ext cx="347472" cy="347472"/>
          </a:xfrm>
          <a:prstGeom prst="rect">
            <a:avLst/>
          </a:prstGeom>
          <a:solidFill>
            <a:srgbClr val="F0F0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66" name="Text 164"/>
          <p:cNvSpPr/>
          <p:nvPr/>
        </p:nvSpPr>
        <p:spPr>
          <a:xfrm>
            <a:off x="621792" y="398678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E293B"/>
                </a:solidFill>
              </a:rPr>
              <a:t>12</a:t>
            </a:r>
            <a:endParaRPr lang="en-US" sz="600" dirty="0"/>
          </a:p>
        </p:txBody>
      </p:sp>
      <p:sp>
        <p:nvSpPr>
          <p:cNvPr id="167" name="Shape 165"/>
          <p:cNvSpPr/>
          <p:nvPr/>
        </p:nvSpPr>
        <p:spPr>
          <a:xfrm>
            <a:off x="969264" y="3986784"/>
            <a:ext cx="347472" cy="347472"/>
          </a:xfrm>
          <a:prstGeom prst="rect">
            <a:avLst/>
          </a:prstGeom>
          <a:solidFill>
            <a:srgbClr val="F0F0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68" name="Text 166"/>
          <p:cNvSpPr/>
          <p:nvPr/>
        </p:nvSpPr>
        <p:spPr>
          <a:xfrm>
            <a:off x="969264" y="398678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E293B"/>
                </a:solidFill>
              </a:rPr>
              <a:t>10</a:t>
            </a:r>
            <a:endParaRPr lang="en-US" sz="600" dirty="0"/>
          </a:p>
        </p:txBody>
      </p:sp>
      <p:sp>
        <p:nvSpPr>
          <p:cNvPr id="169" name="Shape 167"/>
          <p:cNvSpPr/>
          <p:nvPr/>
        </p:nvSpPr>
        <p:spPr>
          <a:xfrm>
            <a:off x="1316736" y="3986784"/>
            <a:ext cx="347472" cy="347472"/>
          </a:xfrm>
          <a:prstGeom prst="rect">
            <a:avLst/>
          </a:prstGeom>
          <a:solidFill>
            <a:srgbClr val="F0F0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70" name="Text 168"/>
          <p:cNvSpPr/>
          <p:nvPr/>
        </p:nvSpPr>
        <p:spPr>
          <a:xfrm>
            <a:off x="1316736" y="398678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E293B"/>
                </a:solidFill>
              </a:rPr>
              <a:t>14</a:t>
            </a:r>
            <a:endParaRPr lang="en-US" sz="600" dirty="0"/>
          </a:p>
        </p:txBody>
      </p:sp>
      <p:sp>
        <p:nvSpPr>
          <p:cNvPr id="171" name="Shape 169"/>
          <p:cNvSpPr/>
          <p:nvPr/>
        </p:nvSpPr>
        <p:spPr>
          <a:xfrm>
            <a:off x="1664208" y="3986784"/>
            <a:ext cx="347472" cy="347472"/>
          </a:xfrm>
          <a:prstGeom prst="rect">
            <a:avLst/>
          </a:prstGeom>
          <a:solidFill>
            <a:srgbClr val="F0F0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72" name="Text 170"/>
          <p:cNvSpPr/>
          <p:nvPr/>
        </p:nvSpPr>
        <p:spPr>
          <a:xfrm>
            <a:off x="1664208" y="398678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600" dirty="0"/>
          </a:p>
        </p:txBody>
      </p:sp>
      <p:sp>
        <p:nvSpPr>
          <p:cNvPr id="173" name="Shape 171"/>
          <p:cNvSpPr/>
          <p:nvPr/>
        </p:nvSpPr>
        <p:spPr>
          <a:xfrm>
            <a:off x="2011680" y="3986784"/>
            <a:ext cx="347472" cy="347472"/>
          </a:xfrm>
          <a:prstGeom prst="rect">
            <a:avLst/>
          </a:prstGeom>
          <a:solidFill>
            <a:srgbClr val="F0F0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74" name="Text 172"/>
          <p:cNvSpPr/>
          <p:nvPr/>
        </p:nvSpPr>
        <p:spPr>
          <a:xfrm>
            <a:off x="2011680" y="398678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E293B"/>
                </a:solidFill>
              </a:rPr>
              <a:t>4</a:t>
            </a:r>
            <a:endParaRPr lang="en-US" sz="600" dirty="0"/>
          </a:p>
        </p:txBody>
      </p:sp>
      <p:sp>
        <p:nvSpPr>
          <p:cNvPr id="175" name="Shape 173"/>
          <p:cNvSpPr/>
          <p:nvPr/>
        </p:nvSpPr>
        <p:spPr>
          <a:xfrm>
            <a:off x="2359152" y="3986784"/>
            <a:ext cx="347472" cy="347472"/>
          </a:xfrm>
          <a:prstGeom prst="rect">
            <a:avLst/>
          </a:prstGeom>
          <a:solidFill>
            <a:srgbClr val="F0F0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76" name="Text 174"/>
          <p:cNvSpPr/>
          <p:nvPr/>
        </p:nvSpPr>
        <p:spPr>
          <a:xfrm>
            <a:off x="2359152" y="398678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E293B"/>
                </a:solidFill>
              </a:rPr>
              <a:t>6</a:t>
            </a:r>
            <a:endParaRPr lang="en-US" sz="600" dirty="0"/>
          </a:p>
        </p:txBody>
      </p:sp>
      <p:sp>
        <p:nvSpPr>
          <p:cNvPr id="177" name="Shape 175"/>
          <p:cNvSpPr/>
          <p:nvPr/>
        </p:nvSpPr>
        <p:spPr>
          <a:xfrm>
            <a:off x="2706624" y="3986784"/>
            <a:ext cx="347472" cy="347472"/>
          </a:xfrm>
          <a:prstGeom prst="rect">
            <a:avLst/>
          </a:prstGeom>
          <a:solidFill>
            <a:srgbClr val="F0F0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78" name="Text 176"/>
          <p:cNvSpPr/>
          <p:nvPr/>
        </p:nvSpPr>
        <p:spPr>
          <a:xfrm>
            <a:off x="2706624" y="398678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E293B"/>
                </a:solidFill>
              </a:rPr>
              <a:t>11</a:t>
            </a:r>
            <a:endParaRPr lang="en-US" sz="600" dirty="0"/>
          </a:p>
        </p:txBody>
      </p:sp>
      <p:sp>
        <p:nvSpPr>
          <p:cNvPr id="179" name="Shape 177"/>
          <p:cNvSpPr/>
          <p:nvPr/>
        </p:nvSpPr>
        <p:spPr>
          <a:xfrm>
            <a:off x="3054096" y="3986784"/>
            <a:ext cx="347472" cy="347472"/>
          </a:xfrm>
          <a:prstGeom prst="rect">
            <a:avLst/>
          </a:prstGeom>
          <a:solidFill>
            <a:srgbClr val="1E2761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80" name="Text 178"/>
          <p:cNvSpPr/>
          <p:nvPr/>
        </p:nvSpPr>
        <p:spPr>
          <a:xfrm>
            <a:off x="3054096" y="398678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</a:rPr>
              <a:t>990</a:t>
            </a:r>
            <a:endParaRPr lang="en-US" sz="600" dirty="0"/>
          </a:p>
        </p:txBody>
      </p:sp>
      <p:sp>
        <p:nvSpPr>
          <p:cNvPr id="181" name="Shape 179"/>
          <p:cNvSpPr/>
          <p:nvPr/>
        </p:nvSpPr>
        <p:spPr>
          <a:xfrm>
            <a:off x="3401568" y="3986784"/>
            <a:ext cx="347472" cy="347472"/>
          </a:xfrm>
          <a:prstGeom prst="rect">
            <a:avLst/>
          </a:prstGeom>
          <a:solidFill>
            <a:srgbClr val="F0F0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82" name="Text 180"/>
          <p:cNvSpPr/>
          <p:nvPr/>
        </p:nvSpPr>
        <p:spPr>
          <a:xfrm>
            <a:off x="3401568" y="398678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E293B"/>
                </a:solidFill>
              </a:rPr>
              <a:t>7</a:t>
            </a:r>
            <a:endParaRPr lang="en-US" sz="600" dirty="0"/>
          </a:p>
        </p:txBody>
      </p:sp>
      <p:sp>
        <p:nvSpPr>
          <p:cNvPr id="183" name="Shape 181"/>
          <p:cNvSpPr/>
          <p:nvPr/>
        </p:nvSpPr>
        <p:spPr>
          <a:xfrm>
            <a:off x="3749040" y="3986784"/>
            <a:ext cx="347472" cy="347472"/>
          </a:xfrm>
          <a:prstGeom prst="rect">
            <a:avLst/>
          </a:prstGeom>
          <a:solidFill>
            <a:srgbClr val="F0F0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84" name="Text 182"/>
          <p:cNvSpPr/>
          <p:nvPr/>
        </p:nvSpPr>
        <p:spPr>
          <a:xfrm>
            <a:off x="3749040" y="398678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E293B"/>
                </a:solidFill>
              </a:rPr>
              <a:t>3</a:t>
            </a:r>
            <a:endParaRPr lang="en-US" sz="600" dirty="0"/>
          </a:p>
        </p:txBody>
      </p:sp>
      <p:sp>
        <p:nvSpPr>
          <p:cNvPr id="185" name="Text 183"/>
          <p:cNvSpPr/>
          <p:nvPr/>
        </p:nvSpPr>
        <p:spPr>
          <a:xfrm>
            <a:off x="274320" y="433425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2761"/>
                </a:solidFill>
              </a:rPr>
              <a:t>8</a:t>
            </a:r>
            <a:endParaRPr lang="en-US" sz="800" dirty="0"/>
          </a:p>
        </p:txBody>
      </p:sp>
      <p:sp>
        <p:nvSpPr>
          <p:cNvPr id="186" name="Shape 184"/>
          <p:cNvSpPr/>
          <p:nvPr/>
        </p:nvSpPr>
        <p:spPr>
          <a:xfrm>
            <a:off x="621792" y="4334256"/>
            <a:ext cx="347472" cy="347472"/>
          </a:xfrm>
          <a:prstGeom prst="rect">
            <a:avLst/>
          </a:prstGeom>
          <a:solidFill>
            <a:srgbClr val="F0F0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87" name="Text 185"/>
          <p:cNvSpPr/>
          <p:nvPr/>
        </p:nvSpPr>
        <p:spPr>
          <a:xfrm>
            <a:off x="621792" y="433425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E293B"/>
                </a:solidFill>
              </a:rPr>
              <a:t>5</a:t>
            </a:r>
            <a:endParaRPr lang="en-US" sz="600" dirty="0"/>
          </a:p>
        </p:txBody>
      </p:sp>
      <p:sp>
        <p:nvSpPr>
          <p:cNvPr id="188" name="Shape 186"/>
          <p:cNvSpPr/>
          <p:nvPr/>
        </p:nvSpPr>
        <p:spPr>
          <a:xfrm>
            <a:off x="969264" y="4334256"/>
            <a:ext cx="347472" cy="347472"/>
          </a:xfrm>
          <a:prstGeom prst="rect">
            <a:avLst/>
          </a:prstGeom>
          <a:solidFill>
            <a:srgbClr val="F0F0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89" name="Text 187"/>
          <p:cNvSpPr/>
          <p:nvPr/>
        </p:nvSpPr>
        <p:spPr>
          <a:xfrm>
            <a:off x="969264" y="433425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E293B"/>
                </a:solidFill>
              </a:rPr>
              <a:t>11</a:t>
            </a:r>
            <a:endParaRPr lang="en-US" sz="600" dirty="0"/>
          </a:p>
        </p:txBody>
      </p:sp>
      <p:sp>
        <p:nvSpPr>
          <p:cNvPr id="190" name="Shape 188"/>
          <p:cNvSpPr/>
          <p:nvPr/>
        </p:nvSpPr>
        <p:spPr>
          <a:xfrm>
            <a:off x="1316736" y="4334256"/>
            <a:ext cx="347472" cy="347472"/>
          </a:xfrm>
          <a:prstGeom prst="rect">
            <a:avLst/>
          </a:prstGeom>
          <a:solidFill>
            <a:srgbClr val="F0F0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91" name="Text 189"/>
          <p:cNvSpPr/>
          <p:nvPr/>
        </p:nvSpPr>
        <p:spPr>
          <a:xfrm>
            <a:off x="1316736" y="433425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E293B"/>
                </a:solidFill>
              </a:rPr>
              <a:t>9</a:t>
            </a:r>
            <a:endParaRPr lang="en-US" sz="600" dirty="0"/>
          </a:p>
        </p:txBody>
      </p:sp>
      <p:sp>
        <p:nvSpPr>
          <p:cNvPr id="192" name="Shape 190"/>
          <p:cNvSpPr/>
          <p:nvPr/>
        </p:nvSpPr>
        <p:spPr>
          <a:xfrm>
            <a:off x="1664208" y="4334256"/>
            <a:ext cx="347472" cy="347472"/>
          </a:xfrm>
          <a:prstGeom prst="rect">
            <a:avLst/>
          </a:prstGeom>
          <a:solidFill>
            <a:srgbClr val="F0F0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93" name="Text 191"/>
          <p:cNvSpPr/>
          <p:nvPr/>
        </p:nvSpPr>
        <p:spPr>
          <a:xfrm>
            <a:off x="1664208" y="433425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E293B"/>
                </a:solidFill>
              </a:rPr>
              <a:t>14</a:t>
            </a:r>
            <a:endParaRPr lang="en-US" sz="600" dirty="0"/>
          </a:p>
        </p:txBody>
      </p:sp>
      <p:sp>
        <p:nvSpPr>
          <p:cNvPr id="194" name="Shape 192"/>
          <p:cNvSpPr/>
          <p:nvPr/>
        </p:nvSpPr>
        <p:spPr>
          <a:xfrm>
            <a:off x="2011680" y="4334256"/>
            <a:ext cx="347472" cy="347472"/>
          </a:xfrm>
          <a:prstGeom prst="rect">
            <a:avLst/>
          </a:prstGeom>
          <a:solidFill>
            <a:srgbClr val="F0F0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95" name="Text 193"/>
          <p:cNvSpPr/>
          <p:nvPr/>
        </p:nvSpPr>
        <p:spPr>
          <a:xfrm>
            <a:off x="2011680" y="433425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E293B"/>
                </a:solidFill>
              </a:rPr>
              <a:t>9</a:t>
            </a:r>
            <a:endParaRPr lang="en-US" sz="600" dirty="0"/>
          </a:p>
        </p:txBody>
      </p:sp>
      <p:sp>
        <p:nvSpPr>
          <p:cNvPr id="196" name="Shape 194"/>
          <p:cNvSpPr/>
          <p:nvPr/>
        </p:nvSpPr>
        <p:spPr>
          <a:xfrm>
            <a:off x="2359152" y="4334256"/>
            <a:ext cx="347472" cy="347472"/>
          </a:xfrm>
          <a:prstGeom prst="rect">
            <a:avLst/>
          </a:prstGeom>
          <a:solidFill>
            <a:srgbClr val="F0F0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97" name="Text 195"/>
          <p:cNvSpPr/>
          <p:nvPr/>
        </p:nvSpPr>
        <p:spPr>
          <a:xfrm>
            <a:off x="2359152" y="433425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600" dirty="0"/>
          </a:p>
        </p:txBody>
      </p:sp>
      <p:sp>
        <p:nvSpPr>
          <p:cNvPr id="198" name="Shape 196"/>
          <p:cNvSpPr/>
          <p:nvPr/>
        </p:nvSpPr>
        <p:spPr>
          <a:xfrm>
            <a:off x="2706624" y="4334256"/>
            <a:ext cx="347472" cy="347472"/>
          </a:xfrm>
          <a:prstGeom prst="rect">
            <a:avLst/>
          </a:prstGeom>
          <a:solidFill>
            <a:srgbClr val="F0F0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99" name="Text 197"/>
          <p:cNvSpPr/>
          <p:nvPr/>
        </p:nvSpPr>
        <p:spPr>
          <a:xfrm>
            <a:off x="2706624" y="433425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E293B"/>
                </a:solidFill>
              </a:rPr>
              <a:t>14</a:t>
            </a:r>
            <a:endParaRPr lang="en-US" sz="600" dirty="0"/>
          </a:p>
        </p:txBody>
      </p:sp>
      <p:sp>
        <p:nvSpPr>
          <p:cNvPr id="200" name="Shape 198"/>
          <p:cNvSpPr/>
          <p:nvPr/>
        </p:nvSpPr>
        <p:spPr>
          <a:xfrm>
            <a:off x="3054096" y="4334256"/>
            <a:ext cx="347472" cy="347472"/>
          </a:xfrm>
          <a:prstGeom prst="rect">
            <a:avLst/>
          </a:prstGeom>
          <a:solidFill>
            <a:srgbClr val="F0F0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01" name="Text 199"/>
          <p:cNvSpPr/>
          <p:nvPr/>
        </p:nvSpPr>
        <p:spPr>
          <a:xfrm>
            <a:off x="3054096" y="433425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E293B"/>
                </a:solidFill>
              </a:rPr>
              <a:t>5</a:t>
            </a:r>
            <a:endParaRPr lang="en-US" sz="600" dirty="0"/>
          </a:p>
        </p:txBody>
      </p:sp>
      <p:sp>
        <p:nvSpPr>
          <p:cNvPr id="202" name="Shape 200"/>
          <p:cNvSpPr/>
          <p:nvPr/>
        </p:nvSpPr>
        <p:spPr>
          <a:xfrm>
            <a:off x="3401568" y="4334256"/>
            <a:ext cx="347472" cy="347472"/>
          </a:xfrm>
          <a:prstGeom prst="rect">
            <a:avLst/>
          </a:prstGeom>
          <a:solidFill>
            <a:srgbClr val="1E2761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03" name="Text 201"/>
          <p:cNvSpPr/>
          <p:nvPr/>
        </p:nvSpPr>
        <p:spPr>
          <a:xfrm>
            <a:off x="3401568" y="433425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</a:rPr>
              <a:t>939</a:t>
            </a:r>
            <a:endParaRPr lang="en-US" sz="600" dirty="0"/>
          </a:p>
        </p:txBody>
      </p:sp>
      <p:sp>
        <p:nvSpPr>
          <p:cNvPr id="204" name="Shape 202"/>
          <p:cNvSpPr/>
          <p:nvPr/>
        </p:nvSpPr>
        <p:spPr>
          <a:xfrm>
            <a:off x="3749040" y="4334256"/>
            <a:ext cx="347472" cy="347472"/>
          </a:xfrm>
          <a:prstGeom prst="rect">
            <a:avLst/>
          </a:prstGeom>
          <a:solidFill>
            <a:srgbClr val="F0F0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05" name="Text 203"/>
          <p:cNvSpPr/>
          <p:nvPr/>
        </p:nvSpPr>
        <p:spPr>
          <a:xfrm>
            <a:off x="3749040" y="433425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E293B"/>
                </a:solidFill>
              </a:rPr>
              <a:t>13</a:t>
            </a:r>
            <a:endParaRPr lang="en-US" sz="600" dirty="0"/>
          </a:p>
        </p:txBody>
      </p:sp>
      <p:sp>
        <p:nvSpPr>
          <p:cNvPr id="206" name="Text 204"/>
          <p:cNvSpPr/>
          <p:nvPr/>
        </p:nvSpPr>
        <p:spPr>
          <a:xfrm>
            <a:off x="274320" y="468172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2761"/>
                </a:solidFill>
              </a:rPr>
              <a:t>9</a:t>
            </a:r>
            <a:endParaRPr lang="en-US" sz="800" dirty="0"/>
          </a:p>
        </p:txBody>
      </p:sp>
      <p:sp>
        <p:nvSpPr>
          <p:cNvPr id="207" name="Shape 205"/>
          <p:cNvSpPr/>
          <p:nvPr/>
        </p:nvSpPr>
        <p:spPr>
          <a:xfrm>
            <a:off x="621792" y="4681728"/>
            <a:ext cx="347472" cy="347472"/>
          </a:xfrm>
          <a:prstGeom prst="rect">
            <a:avLst/>
          </a:prstGeom>
          <a:solidFill>
            <a:srgbClr val="F0F0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08" name="Text 206"/>
          <p:cNvSpPr/>
          <p:nvPr/>
        </p:nvSpPr>
        <p:spPr>
          <a:xfrm>
            <a:off x="621792" y="468172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E293B"/>
                </a:solidFill>
              </a:rPr>
              <a:t>7</a:t>
            </a:r>
            <a:endParaRPr lang="en-US" sz="600" dirty="0"/>
          </a:p>
        </p:txBody>
      </p:sp>
      <p:sp>
        <p:nvSpPr>
          <p:cNvPr id="209" name="Shape 207"/>
          <p:cNvSpPr/>
          <p:nvPr/>
        </p:nvSpPr>
        <p:spPr>
          <a:xfrm>
            <a:off x="969264" y="4681728"/>
            <a:ext cx="347472" cy="347472"/>
          </a:xfrm>
          <a:prstGeom prst="rect">
            <a:avLst/>
          </a:prstGeom>
          <a:solidFill>
            <a:srgbClr val="F0F0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10" name="Text 208"/>
          <p:cNvSpPr/>
          <p:nvPr/>
        </p:nvSpPr>
        <p:spPr>
          <a:xfrm>
            <a:off x="969264" y="468172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E293B"/>
                </a:solidFill>
              </a:rPr>
              <a:t>6</a:t>
            </a:r>
            <a:endParaRPr lang="en-US" sz="600" dirty="0"/>
          </a:p>
        </p:txBody>
      </p:sp>
      <p:sp>
        <p:nvSpPr>
          <p:cNvPr id="211" name="Shape 209"/>
          <p:cNvSpPr/>
          <p:nvPr/>
        </p:nvSpPr>
        <p:spPr>
          <a:xfrm>
            <a:off x="1316736" y="4681728"/>
            <a:ext cx="347472" cy="347472"/>
          </a:xfrm>
          <a:prstGeom prst="rect">
            <a:avLst/>
          </a:prstGeom>
          <a:solidFill>
            <a:srgbClr val="F0F0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12" name="Text 210"/>
          <p:cNvSpPr/>
          <p:nvPr/>
        </p:nvSpPr>
        <p:spPr>
          <a:xfrm>
            <a:off x="1316736" y="468172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E293B"/>
                </a:solidFill>
              </a:rPr>
              <a:t>5</a:t>
            </a:r>
            <a:endParaRPr lang="en-US" sz="600" dirty="0"/>
          </a:p>
        </p:txBody>
      </p:sp>
      <p:sp>
        <p:nvSpPr>
          <p:cNvPr id="213" name="Shape 211"/>
          <p:cNvSpPr/>
          <p:nvPr/>
        </p:nvSpPr>
        <p:spPr>
          <a:xfrm>
            <a:off x="1664208" y="4681728"/>
            <a:ext cx="347472" cy="347472"/>
          </a:xfrm>
          <a:prstGeom prst="rect">
            <a:avLst/>
          </a:prstGeom>
          <a:solidFill>
            <a:srgbClr val="F0F0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14" name="Text 212"/>
          <p:cNvSpPr/>
          <p:nvPr/>
        </p:nvSpPr>
        <p:spPr>
          <a:xfrm>
            <a:off x="1664208" y="468172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E293B"/>
                </a:solidFill>
              </a:rPr>
              <a:t>9</a:t>
            </a:r>
            <a:endParaRPr lang="en-US" sz="600" dirty="0"/>
          </a:p>
        </p:txBody>
      </p:sp>
      <p:sp>
        <p:nvSpPr>
          <p:cNvPr id="215" name="Shape 213"/>
          <p:cNvSpPr/>
          <p:nvPr/>
        </p:nvSpPr>
        <p:spPr>
          <a:xfrm>
            <a:off x="2011680" y="4681728"/>
            <a:ext cx="347472" cy="347472"/>
          </a:xfrm>
          <a:prstGeom prst="rect">
            <a:avLst/>
          </a:prstGeom>
          <a:solidFill>
            <a:srgbClr val="F0F0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16" name="Text 214"/>
          <p:cNvSpPr/>
          <p:nvPr/>
        </p:nvSpPr>
        <p:spPr>
          <a:xfrm>
            <a:off x="2011680" y="468172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E293B"/>
                </a:solidFill>
              </a:rPr>
              <a:t>14</a:t>
            </a:r>
            <a:endParaRPr lang="en-US" sz="600" dirty="0"/>
          </a:p>
        </p:txBody>
      </p:sp>
      <p:sp>
        <p:nvSpPr>
          <p:cNvPr id="217" name="Shape 215"/>
          <p:cNvSpPr/>
          <p:nvPr/>
        </p:nvSpPr>
        <p:spPr>
          <a:xfrm>
            <a:off x="2359152" y="4681728"/>
            <a:ext cx="347472" cy="347472"/>
          </a:xfrm>
          <a:prstGeom prst="rect">
            <a:avLst/>
          </a:prstGeom>
          <a:solidFill>
            <a:srgbClr val="F0F0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18" name="Text 216"/>
          <p:cNvSpPr/>
          <p:nvPr/>
        </p:nvSpPr>
        <p:spPr>
          <a:xfrm>
            <a:off x="2359152" y="468172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E293B"/>
                </a:solidFill>
              </a:rPr>
              <a:t>8</a:t>
            </a:r>
            <a:endParaRPr lang="en-US" sz="600" dirty="0"/>
          </a:p>
        </p:txBody>
      </p:sp>
      <p:sp>
        <p:nvSpPr>
          <p:cNvPr id="219" name="Shape 217"/>
          <p:cNvSpPr/>
          <p:nvPr/>
        </p:nvSpPr>
        <p:spPr>
          <a:xfrm>
            <a:off x="2706624" y="4681728"/>
            <a:ext cx="347472" cy="347472"/>
          </a:xfrm>
          <a:prstGeom prst="rect">
            <a:avLst/>
          </a:prstGeom>
          <a:solidFill>
            <a:srgbClr val="F0F0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20" name="Text 218"/>
          <p:cNvSpPr/>
          <p:nvPr/>
        </p:nvSpPr>
        <p:spPr>
          <a:xfrm>
            <a:off x="2706624" y="468172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E293B"/>
                </a:solidFill>
              </a:rPr>
              <a:t>1</a:t>
            </a:r>
            <a:endParaRPr lang="en-US" sz="600" dirty="0"/>
          </a:p>
        </p:txBody>
      </p:sp>
      <p:sp>
        <p:nvSpPr>
          <p:cNvPr id="221" name="Shape 219"/>
          <p:cNvSpPr/>
          <p:nvPr/>
        </p:nvSpPr>
        <p:spPr>
          <a:xfrm>
            <a:off x="3054096" y="4681728"/>
            <a:ext cx="347472" cy="347472"/>
          </a:xfrm>
          <a:prstGeom prst="rect">
            <a:avLst/>
          </a:prstGeom>
          <a:solidFill>
            <a:srgbClr val="F0F0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22" name="Text 220"/>
          <p:cNvSpPr/>
          <p:nvPr/>
        </p:nvSpPr>
        <p:spPr>
          <a:xfrm>
            <a:off x="3054096" y="468172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E293B"/>
                </a:solidFill>
              </a:rPr>
              <a:t>10</a:t>
            </a:r>
            <a:endParaRPr lang="en-US" sz="600" dirty="0"/>
          </a:p>
        </p:txBody>
      </p:sp>
      <p:sp>
        <p:nvSpPr>
          <p:cNvPr id="223" name="Shape 221"/>
          <p:cNvSpPr/>
          <p:nvPr/>
        </p:nvSpPr>
        <p:spPr>
          <a:xfrm>
            <a:off x="3401568" y="4681728"/>
            <a:ext cx="347472" cy="347472"/>
          </a:xfrm>
          <a:prstGeom prst="rect">
            <a:avLst/>
          </a:prstGeom>
          <a:solidFill>
            <a:srgbClr val="F0F0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24" name="Text 222"/>
          <p:cNvSpPr/>
          <p:nvPr/>
        </p:nvSpPr>
        <p:spPr>
          <a:xfrm>
            <a:off x="3401568" y="468172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E293B"/>
                </a:solidFill>
              </a:rPr>
              <a:t>8</a:t>
            </a:r>
            <a:endParaRPr lang="en-US" sz="600" dirty="0"/>
          </a:p>
        </p:txBody>
      </p:sp>
      <p:sp>
        <p:nvSpPr>
          <p:cNvPr id="225" name="Shape 223"/>
          <p:cNvSpPr/>
          <p:nvPr/>
        </p:nvSpPr>
        <p:spPr>
          <a:xfrm>
            <a:off x="3749040" y="4681728"/>
            <a:ext cx="347472" cy="347472"/>
          </a:xfrm>
          <a:prstGeom prst="rect">
            <a:avLst/>
          </a:prstGeom>
          <a:solidFill>
            <a:srgbClr val="1E2761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26" name="Text 224"/>
          <p:cNvSpPr/>
          <p:nvPr/>
        </p:nvSpPr>
        <p:spPr>
          <a:xfrm>
            <a:off x="3749040" y="468172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</a:rPr>
              <a:t>960</a:t>
            </a:r>
            <a:endParaRPr lang="en-US" sz="600" dirty="0"/>
          </a:p>
        </p:txBody>
      </p:sp>
      <p:sp>
        <p:nvSpPr>
          <p:cNvPr id="227" name="Text 225"/>
          <p:cNvSpPr/>
          <p:nvPr/>
        </p:nvSpPr>
        <p:spPr>
          <a:xfrm>
            <a:off x="4114800" y="15544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Key Observations</a:t>
            </a:r>
            <a:endParaRPr lang="en-US" sz="1400" dirty="0"/>
          </a:p>
        </p:txBody>
      </p:sp>
      <p:sp>
        <p:nvSpPr>
          <p:cNvPr id="228" name="Text 226"/>
          <p:cNvSpPr/>
          <p:nvPr/>
        </p:nvSpPr>
        <p:spPr>
          <a:xfrm>
            <a:off x="4114800" y="2011680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</a:rPr>
              <a:t>✓  </a:t>
            </a:r>
            <a:r>
              <a:rPr lang="en-US" sz="1200" dirty="0">
                <a:solidFill>
                  <a:srgbClr val="1E293B"/>
                </a:solidFill>
              </a:rPr>
              <a:t>All digits &gt; 95% accuracy</a:t>
            </a:r>
            <a:endParaRPr lang="en-US" sz="1200" dirty="0"/>
          </a:p>
        </p:txBody>
      </p:sp>
      <p:sp>
        <p:nvSpPr>
          <p:cNvPr id="229" name="Text 227"/>
          <p:cNvSpPr/>
          <p:nvPr/>
        </p:nvSpPr>
        <p:spPr>
          <a:xfrm>
            <a:off x="4114800" y="2450592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</a:rPr>
              <a:t>✓  </a:t>
            </a:r>
            <a:r>
              <a:rPr lang="en-US" sz="1200" dirty="0">
                <a:solidFill>
                  <a:srgbClr val="1E293B"/>
                </a:solidFill>
              </a:rPr>
              <a:t>Digit '5' most confused with '3' &amp; '8'</a:t>
            </a:r>
            <a:endParaRPr lang="en-US" sz="1200" dirty="0"/>
          </a:p>
        </p:txBody>
      </p:sp>
      <p:sp>
        <p:nvSpPr>
          <p:cNvPr id="230" name="Text 228"/>
          <p:cNvSpPr/>
          <p:nvPr/>
        </p:nvSpPr>
        <p:spPr>
          <a:xfrm>
            <a:off x="4114800" y="2889504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</a:rPr>
              <a:t>✓  </a:t>
            </a:r>
            <a:r>
              <a:rPr lang="en-US" sz="1200" dirty="0">
                <a:solidFill>
                  <a:srgbClr val="1E293B"/>
                </a:solidFill>
              </a:rPr>
              <a:t>Digits '0', '1', '6' near-perfect</a:t>
            </a:r>
            <a:endParaRPr lang="en-US" sz="1200" dirty="0"/>
          </a:p>
        </p:txBody>
      </p:sp>
      <p:sp>
        <p:nvSpPr>
          <p:cNvPr id="231" name="Text 229"/>
          <p:cNvSpPr/>
          <p:nvPr/>
        </p:nvSpPr>
        <p:spPr>
          <a:xfrm>
            <a:off x="4114800" y="3328416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</a:rPr>
              <a:t>✓  </a:t>
            </a:r>
            <a:r>
              <a:rPr lang="en-US" sz="1200" dirty="0">
                <a:solidFill>
                  <a:srgbClr val="1E293B"/>
                </a:solidFill>
              </a:rPr>
              <a:t>~9,700 out of 10,000 correct</a:t>
            </a:r>
            <a:endParaRPr lang="en-US" sz="1200" dirty="0"/>
          </a:p>
        </p:txBody>
      </p:sp>
      <p:sp>
        <p:nvSpPr>
          <p:cNvPr id="232" name="Text 230"/>
          <p:cNvSpPr/>
          <p:nvPr/>
        </p:nvSpPr>
        <p:spPr>
          <a:xfrm>
            <a:off x="4114800" y="3767328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</a:rPr>
              <a:t>✓  </a:t>
            </a:r>
            <a:r>
              <a:rPr lang="en-US" sz="1200" dirty="0">
                <a:solidFill>
                  <a:srgbClr val="1E293B"/>
                </a:solidFill>
              </a:rPr>
              <a:t>Strong diagonal = great performance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0" y="1828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1E2761"/>
                </a:solidFill>
              </a:rPr>
              <a:t>10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18288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761"/>
                </a:solidFill>
              </a:rPr>
              <a:t>Interactive Predictive System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8595360" cy="18288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1440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The trained model is deployed as a real-world digit recognition system: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417320"/>
            <a:ext cx="1280160" cy="2011680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50876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508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" y="214884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</a:rPr>
              <a:t>Read Image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4320" y="2560320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cv2.imread(path)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554480" y="2286000"/>
            <a:ext cx="164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B82F6"/>
                </a:solidFill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719072" y="1417320"/>
            <a:ext cx="1280160" cy="2011680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84832" y="150876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84832" y="1508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719072" y="214884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</a:rPr>
              <a:t>Grayscale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719072" y="2560320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cv2.COLOR_RGB2GRAY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999232" y="2286000"/>
            <a:ext cx="164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B82F6"/>
                </a:solidFill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163824" y="1417320"/>
            <a:ext cx="1280160" cy="2011680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29584" y="150876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29584" y="1508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163824" y="214884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</a:rPr>
              <a:t>Resize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163824" y="2560320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cv2.resize((28,28))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443984" y="2286000"/>
            <a:ext cx="164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B82F6"/>
                </a:solidFill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608576" y="1417320"/>
            <a:ext cx="1280160" cy="2011680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974336" y="150876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74336" y="1508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608576" y="214884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</a:rPr>
              <a:t>Normalize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608576" y="2560320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img / 255.0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888736" y="2286000"/>
            <a:ext cx="164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B82F6"/>
                </a:solidFill>
              </a:rPr>
              <a:t>→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053328" y="1417320"/>
            <a:ext cx="1280160" cy="2011680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19088" y="150876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19088" y="1508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053328" y="214884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</a:rPr>
              <a:t>Reshape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053328" y="2560320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np.reshape([1,28,28])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7333488" y="2286000"/>
            <a:ext cx="164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B82F6"/>
                </a:solidFill>
              </a:rPr>
              <a:t>→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498080" y="1417320"/>
            <a:ext cx="1280160" cy="2011680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863840" y="150876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863840" y="1508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7498080" y="214884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</a:rPr>
              <a:t>Predict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498080" y="2560320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model.predict()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274320" y="3657600"/>
            <a:ext cx="8595360" cy="1188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37947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</a:rPr>
              <a:t>🎯 Result: 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1828800" y="37947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Handwritten Digit is recognised as: 3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457200" y="42519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✅ Successfully predicted a real handwritten digit with 99.9% confidence!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0" y="1828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1E2761"/>
                </a:solidFill>
              </a:rPr>
              <a:t>11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18288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761"/>
                </a:solidFill>
              </a:rPr>
              <a:t>Technologies &amp; Tools Used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8595360" cy="18288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05840"/>
            <a:ext cx="2743200" cy="1188720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97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🐍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51560" y="10972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Python 3.x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15087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Core language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1005840"/>
            <a:ext cx="2743200" cy="1188720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097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🔷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977640" y="10972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TensorFlow 2.x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977640" y="15087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Deep learning framework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1005840"/>
            <a:ext cx="2743200" cy="1188720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1097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903720" y="10972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Keras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903720" y="15087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Model building API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2331720"/>
            <a:ext cx="2743200" cy="1188720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23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🔢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051560" y="24231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NumPy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51560" y="28346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Numerical computation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0" y="2331720"/>
            <a:ext cx="2743200" cy="1188720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91840" y="2423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3977640" y="24231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Matplotlib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977640" y="28346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Training curves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26480" y="2331720"/>
            <a:ext cx="2743200" cy="1188720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0" y="2423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🗺️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903720" y="24231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Seaborn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903720" y="28346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Confusion matrix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4320" y="3657600"/>
            <a:ext cx="2743200" cy="1188720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749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🖼️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1051560" y="37490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OpenCV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051560" y="41605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Image preprocessing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200400" y="3657600"/>
            <a:ext cx="2743200" cy="1188720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91840" y="3749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☁️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3977640" y="37490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Google Colab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977640" y="41605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Cloud development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126480" y="3657600"/>
            <a:ext cx="2743200" cy="1188720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17920" y="3749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🐙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6903720" y="37490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GitHub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903720" y="41605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Version control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0" y="1828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CADCFC"/>
                </a:solidFill>
              </a:rPr>
              <a:t>12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18288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Conclusion &amp; Key Learnings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8595360" cy="18288"/>
          </a:xfrm>
          <a:prstGeom prst="rect">
            <a:avLst/>
          </a:prstGeom>
          <a:solidFill>
            <a:srgbClr val="CADCFC">
              <a:alpha val="40000"/>
            </a:srgbClr>
          </a:solidFill>
          <a:ln w="12700">
            <a:solidFill>
              <a:srgbClr val="CADCFC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1440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ADCFC"/>
                </a:solidFill>
              </a:rPr>
              <a:t>Project successfully completed with ~97% test accuracy!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8321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</a:rPr>
              <a:t>✅  </a:t>
            </a:r>
            <a:r>
              <a:rPr lang="en-US" sz="1300" dirty="0">
                <a:solidFill>
                  <a:srgbClr val="FFFFFF"/>
                </a:solidFill>
              </a:rPr>
              <a:t>Data normalization is critical for stable neural network training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993392"/>
            <a:ext cx="8321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</a:rPr>
              <a:t>✅  </a:t>
            </a:r>
            <a:r>
              <a:rPr lang="en-US" sz="1300" dirty="0">
                <a:solidFill>
                  <a:srgbClr val="FFFFFF"/>
                </a:solidFill>
              </a:rPr>
              <a:t>A simple 2-hidden-layer MLP achieves impressive results on MNIST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478024"/>
            <a:ext cx="8321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</a:rPr>
              <a:t>✅  </a:t>
            </a:r>
            <a:r>
              <a:rPr lang="en-US" sz="1300" dirty="0">
                <a:solidFill>
                  <a:srgbClr val="FFFFFF"/>
                </a:solidFill>
              </a:rPr>
              <a:t>Adam optimizer converges efficiently compared to basic SGD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962656"/>
            <a:ext cx="8321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</a:rPr>
              <a:t>✅  </a:t>
            </a:r>
            <a:r>
              <a:rPr lang="en-US" sz="1300" dirty="0">
                <a:solidFill>
                  <a:srgbClr val="FFFFFF"/>
                </a:solidFill>
              </a:rPr>
              <a:t>Confusion matrices provide deep insight into per-class performance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3447288"/>
            <a:ext cx="8321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</a:rPr>
              <a:t>✅  </a:t>
            </a:r>
            <a:r>
              <a:rPr lang="en-US" sz="1300" dirty="0">
                <a:solidFill>
                  <a:srgbClr val="FFFFFF"/>
                </a:solidFill>
              </a:rPr>
              <a:t>Trained models can be deployed as real-world prediction systems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39776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</a:rPr>
              <a:t>Future Improvements: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437083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Use CNN for &gt;99% accuracy  |  Add dropout regularization  |  Deploy as web app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200400"/>
            <a:ext cx="3657600" cy="3657600"/>
          </a:xfrm>
          <a:prstGeom prst="ellipse">
            <a:avLst/>
          </a:prstGeom>
          <a:solidFill>
            <a:srgbClr val="CADCFC">
              <a:alpha val="15000"/>
            </a:srgbClr>
          </a:solidFill>
          <a:ln w="12700">
            <a:solidFill>
              <a:srgbClr val="CADCFC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0" y="118872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</a:rPr>
              <a:t>Thank You!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3200400" y="2286000"/>
            <a:ext cx="2743200" cy="4572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256032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ADCFC"/>
                </a:solidFill>
              </a:rPr>
              <a:t>MNIST Handwritten Digit Classification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CADCFC"/>
                </a:solidFill>
              </a:rPr>
              <a:t>Using Neural Networks (Deep Learning)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42062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852</Words>
  <Application>Microsoft Office PowerPoint</Application>
  <PresentationFormat>On-screen Show (16:9)</PresentationFormat>
  <Paragraphs>359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MNIST Handwritten Digit Classification</dc:title>
  <dc:subject>PptxGenJS Presentation</dc:subject>
  <dc:creator>Naviotech Solutions</dc:creator>
  <cp:lastModifiedBy>Harshada Patil</cp:lastModifiedBy>
  <cp:revision>2</cp:revision>
  <dcterms:created xsi:type="dcterms:W3CDTF">2026-03-30T13:38:43Z</dcterms:created>
  <dcterms:modified xsi:type="dcterms:W3CDTF">2026-03-31T16:44:12Z</dcterms:modified>
</cp:coreProperties>
</file>